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2" r:id="rId12"/>
    <p:sldId id="266" r:id="rId13"/>
    <p:sldId id="267" r:id="rId14"/>
    <p:sldId id="268" r:id="rId15"/>
    <p:sldId id="269" r:id="rId16"/>
    <p:sldId id="271" r:id="rId17"/>
    <p:sldId id="273" r:id="rId18"/>
  </p:sldIdLst>
  <p:sldSz cx="9144000" cy="5143500" type="screen16x9"/>
  <p:notesSz cx="9144000" cy="5143500"/>
  <p:embeddedFontLst>
    <p:embeddedFont>
      <p:font typeface="Cambria" panose="02040503050406030204" pitchFamily="18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32FF17-372F-424B-95F6-44A52A431CC9}" v="8" dt="2026-10-04T10:42:17.3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jat Dulal" userId="91f5888924266ffc" providerId="LiveId" clId="{B6E28093-0C03-4925-A0AE-C23DE8E02794}"/>
    <pc:docChg chg="custSel modSld">
      <pc:chgData name="Rajat Dulal" userId="91f5888924266ffc" providerId="LiveId" clId="{B6E28093-0C03-4925-A0AE-C23DE8E02794}" dt="2026-10-04T11:17:34.593" v="241" actId="20577"/>
      <pc:docMkLst>
        <pc:docMk/>
      </pc:docMkLst>
      <pc:sldChg chg="addSp delSp modSp mod">
        <pc:chgData name="Rajat Dulal" userId="91f5888924266ffc" providerId="LiveId" clId="{B6E28093-0C03-4925-A0AE-C23DE8E02794}" dt="2026-10-04T11:17:34.593" v="241" actId="20577"/>
        <pc:sldMkLst>
          <pc:docMk/>
          <pc:sldMk cId="4144033208" sldId="273"/>
        </pc:sldMkLst>
        <pc:spChg chg="add del mod">
          <ac:chgData name="Rajat Dulal" userId="91f5888924266ffc" providerId="LiveId" clId="{B6E28093-0C03-4925-A0AE-C23DE8E02794}" dt="2026-10-04T10:42:57.240" v="220" actId="478"/>
          <ac:spMkLst>
            <pc:docMk/>
            <pc:sldMk cId="4144033208" sldId="273"/>
            <ac:spMk id="4" creationId="{88061E5B-CBE5-83AA-6E1F-1503ECFDB19A}"/>
          </ac:spMkLst>
        </pc:spChg>
        <pc:spChg chg="add mod">
          <ac:chgData name="Rajat Dulal" userId="91f5888924266ffc" providerId="LiveId" clId="{B6E28093-0C03-4925-A0AE-C23DE8E02794}" dt="2026-10-04T10:41:49.520" v="7" actId="767"/>
          <ac:spMkLst>
            <pc:docMk/>
            <pc:sldMk cId="4144033208" sldId="273"/>
            <ac:spMk id="5" creationId="{440104F3-6258-0227-0769-DCE2975EB68A}"/>
          </ac:spMkLst>
        </pc:spChg>
        <pc:spChg chg="add del mod">
          <ac:chgData name="Rajat Dulal" userId="91f5888924266ffc" providerId="LiveId" clId="{B6E28093-0C03-4925-A0AE-C23DE8E02794}" dt="2026-10-04T10:41:54.357" v="10"/>
          <ac:spMkLst>
            <pc:docMk/>
            <pc:sldMk cId="4144033208" sldId="273"/>
            <ac:spMk id="6" creationId="{7B98B029-00E3-7E0F-6864-76AAC2276B18}"/>
          </ac:spMkLst>
        </pc:spChg>
        <pc:spChg chg="add del mod">
          <ac:chgData name="Rajat Dulal" userId="91f5888924266ffc" providerId="LiveId" clId="{B6E28093-0C03-4925-A0AE-C23DE8E02794}" dt="2026-10-04T10:42:12.994" v="134"/>
          <ac:spMkLst>
            <pc:docMk/>
            <pc:sldMk cId="4144033208" sldId="273"/>
            <ac:spMk id="7" creationId="{ECDE7301-8CF6-4346-F899-B120E03F5B79}"/>
          </ac:spMkLst>
        </pc:spChg>
        <pc:spChg chg="add del mod">
          <ac:chgData name="Rajat Dulal" userId="91f5888924266ffc" providerId="LiveId" clId="{B6E28093-0C03-4925-A0AE-C23DE8E02794}" dt="2026-10-04T10:42:55.274" v="219"/>
          <ac:spMkLst>
            <pc:docMk/>
            <pc:sldMk cId="4144033208" sldId="273"/>
            <ac:spMk id="8" creationId="{BCCD6C13-8030-9320-C2C0-6EACDDC62E69}"/>
          </ac:spMkLst>
        </pc:spChg>
        <pc:spChg chg="mod">
          <ac:chgData name="Rajat Dulal" userId="91f5888924266ffc" providerId="LiveId" clId="{B6E28093-0C03-4925-A0AE-C23DE8E02794}" dt="2026-10-04T11:17:34.593" v="241" actId="20577"/>
          <ac:spMkLst>
            <pc:docMk/>
            <pc:sldMk cId="4144033208" sldId="273"/>
            <ac:spMk id="27" creationId="{C589C3A4-A8EA-8760-C256-66F095D05F93}"/>
          </ac:spMkLst>
        </pc:spChg>
        <pc:graphicFrameChg chg="add mod">
          <ac:chgData name="Rajat Dulal" userId="91f5888924266ffc" providerId="LiveId" clId="{B6E28093-0C03-4925-A0AE-C23DE8E02794}" dt="2026-10-04T10:41:13.722" v="1"/>
          <ac:graphicFrameMkLst>
            <pc:docMk/>
            <pc:sldMk cId="4144033208" sldId="273"/>
            <ac:graphicFrameMk id="2" creationId="{F4241120-CE5F-9D5F-8C9B-5A431E8D7E66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1840"/>
                </a:solidFill>
                <a:latin typeface="Calibri"/>
              </a:defRPr>
            </a:pPr>
            <a:r>
              <a:rPr lang="en-US" sz="1100" b="0" i="0" u="none" strike="noStrike">
                <a:solidFill>
                  <a:srgbClr val="1B1840"/>
                </a:solidFill>
                <a:latin typeface="Calibri"/>
              </a:rPr>
              <a:t>dog→cat misclassification on 1,000 dog test images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Target-class ASR (%)</c:v>
                </c:pt>
              </c:strCache>
            </c:strRef>
          </c:tx>
          <c:spPr>
            <a:solidFill>
              <a:srgbClr val="C9CDF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55FD-440A-80DB-7711473BB8DA}"/>
              </c:ext>
            </c:extLst>
          </c:dPt>
          <c:dPt>
            <c:idx val="1"/>
            <c:invertIfNegative val="0"/>
            <c:bubble3D val="0"/>
            <c:spPr>
              <a:solidFill>
                <a:srgbClr val="4B44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55FD-440A-80DB-7711473BB8DA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184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Clean-trained victim</c:v>
                </c:pt>
                <c:pt idx="1">
                  <c:v>Poison-trained victim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</c:v>
                </c:pt>
                <c:pt idx="1">
                  <c:v>30.8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55FD-440A-80DB-7711473BB8D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8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6350" cap="flat">
              <a:solidFill>
                <a:srgbClr val="D9D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5F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1840"/>
                </a:solidFill>
                <a:latin typeface="Calibri"/>
              </a:defRPr>
            </a:pPr>
            <a:r>
              <a:rPr lang="en-US" sz="1100" b="0" i="0" u="none" strike="noStrike">
                <a:solidFill>
                  <a:srgbClr val="1B1840"/>
                </a:solidFill>
                <a:latin typeface="Calibri"/>
              </a:rPr>
              <a:t>Poisoned-model ASR by depth (%, 25 poisons, g = 100)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Poisoned-model target-class ASR (%)</c:v>
                </c:pt>
              </c:strCache>
            </c:strRef>
          </c:tx>
          <c:spPr>
            <a:solidFill>
              <a:srgbClr val="4B44B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B184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t_start = 50</c:v>
                </c:pt>
                <c:pt idx="1">
                  <c:v>t_start = 100</c:v>
                </c:pt>
                <c:pt idx="2">
                  <c:v>t_start = 300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28.3</c:v>
                </c:pt>
                <c:pt idx="1">
                  <c:v>30.8</c:v>
                </c:pt>
                <c:pt idx="2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42-4789-A400-CE603135D19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8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"/>
          <c:min val="0"/>
        </c:scaling>
        <c:delete val="0"/>
        <c:axPos val="l"/>
        <c:majorGridlines>
          <c:spPr>
            <a:ln w="6350" cap="flat">
              <a:solidFill>
                <a:srgbClr val="D9D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5F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100" b="0" i="0" u="none" strike="noStrike">
                <a:solidFill>
                  <a:srgbClr val="1B1840"/>
                </a:solidFill>
                <a:latin typeface="Calibri"/>
              </a:defRPr>
            </a:pPr>
            <a:r>
              <a:rPr lang="en-US" sz="1100" b="0" i="0" u="none" strike="noStrike">
                <a:solidFill>
                  <a:srgbClr val="1B1840"/>
                </a:solidFill>
                <a:latin typeface="Calibri"/>
              </a:rPr>
              <a:t>Target-class ASR (%), t_start = 100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Clean-trained</c:v>
                </c:pt>
              </c:strCache>
            </c:strRef>
          </c:tx>
          <c:spPr>
            <a:solidFill>
              <a:srgbClr val="C9CDF0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184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Same architecture</c:v>
                </c:pt>
                <c:pt idx="1">
                  <c:v>ResNet-style victim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</c:v>
                </c:pt>
                <c:pt idx="1">
                  <c:v>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38B-4F5E-BE08-7BDBFDD1D41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Poison-trained</c:v>
                </c:pt>
              </c:strCache>
            </c:strRef>
          </c:tx>
          <c:spPr>
            <a:solidFill>
              <a:srgbClr val="4B44B8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B184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Same architecture</c:v>
                </c:pt>
                <c:pt idx="1">
                  <c:v>ResNet-style victim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30.8</c:v>
                </c:pt>
                <c:pt idx="1">
                  <c:v>16.100000000000001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38B-4F5E-BE08-7BDBFDD1D41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84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"/>
          <c:min val="0"/>
        </c:scaling>
        <c:delete val="0"/>
        <c:axPos val="l"/>
        <c:majorGridlines>
          <c:spPr>
            <a:ln w="6350" cap="flat">
              <a:solidFill>
                <a:srgbClr val="D9D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5F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1840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B4165B-BDE6-4577-9A73-C0C3186E28D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FF398B-E67B-4096-89D7-195E296B68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3251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Give the examiners context first: why clean-label poisoning matters, what is missing, and the two-phase structure of the programme. Phase 1 is the baseline; Phase 2 is the contribution.</a:t>
            </a:r>
          </a:p>
          <a:p>
            <a:r>
              <a:rPr lang="en-US" sz="1200" noProof="1"/>
              <a:t>2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Brief by design. Phase 1 addressed gaps 1 and 2 (semantic prototype, black-box surrogate). Phase 2 targets gap 3. The claim is narrow: not first to use diffusion in poisoning, but first, to my review, to embed the collision loss in the sampling loop for CNN classifiers.</a:t>
            </a:r>
          </a:p>
          <a:p>
            <a:r>
              <a:rPr lang="en-US" sz="1200" noProof="1"/>
              <a:t>3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RQs are unchanged from SIT723. RQ3 is the focus of the talk; RQ1 and RQ2 are addressed to the extent shown, and I say so explicitly.</a:t>
            </a:r>
          </a:p>
          <a:p>
            <a:r>
              <a:rPr lang="en-US" sz="1200" noProof="1"/>
              <a:t>4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This is the relationship slide the supervisor asked for. PGD baseline = Phase 1. Souri et al. = closest prior art, two-stage. Ours = single-stage. The claim is deliberately narrow: not first to use diffusion for poisoning, but first (to my review) to put the collision objective inside the sampling loop for CNN classifiers.</a:t>
            </a:r>
          </a:p>
          <a:p>
            <a:r>
              <a:rPr lang="en-US" sz="1200" noProof="1"/>
              <a:t>5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Keep this short. The point is that Phase 1 is stealthy and under-tuned; it is the reference the diffusion method is positioned against.</a:t>
            </a:r>
          </a:p>
          <a:p>
            <a:r>
              <a:rPr lang="en-US" sz="1200" noProof="1"/>
              <a:t>6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Figure 3.2 from the thesis. Walk left to right, then explain the loop on the right is step 4 expanded. Make the clean-label point explicit: the label stays cat.</a:t>
            </a:r>
          </a:p>
          <a:p>
            <a:r>
              <a:rPr lang="en-US" sz="1200" noProof="1"/>
              <a:t>7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Main-result settings: t_start = 100, guidance g = 100. The sweep on slide 11 covers 50, 100, 300. The earlier deck said t ≈ 250; 250 is only the MNIST setting.</a:t>
            </a:r>
          </a:p>
          <a:p>
            <a:r>
              <a:rPr lang="en-US" sz="1200" noProof="1"/>
              <a:t>8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Be upfront that these are single-run point estimates with short victim training. 1,000 test images means ASR resolution of 0.1 percentage points.</a:t>
            </a:r>
          </a:p>
          <a:p>
            <a:r>
              <a:rPr lang="en-US" sz="1200" noProof="1"/>
              <a:t>9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Strongest single piece of evidence. Be careful with the 78.74 vs 72.89 accuracy gap: it is consistent with the clean-label constraint, but it is a single run, so do not read it as poisoning improving accuracy.</a:t>
            </a:r>
          </a:p>
          <a:p>
            <a:r>
              <a:rPr lang="en-US" sz="1200" noProof="1"/>
              <a:t>10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Same shape of trade-off as λ in Phase 1. Clean baselines differ slightly per run (71.45 / 72.89 / 71.45) because each run retrains the clean victim; this is one reason multi-seed runs are future work.</a:t>
            </a:r>
          </a:p>
          <a:p>
            <a:r>
              <a:rPr lang="en-US" sz="1200" noProof="1"/>
              <a:t>11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Honest point: Phase 1 has SSIM 0.9993; Phase 2 has no SSIM reported. Do not claim the diffusion poisons are more stealthy than PGD poisons; the thesis does not show that.</a:t>
            </a:r>
          </a:p>
          <a:p>
            <a:r>
              <a:rPr lang="en-US" sz="1200" noProof="1"/>
              <a:t>12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Both are kept in deliberately. The pretrained-victim result has no numbers table in the thesis; describe it as 'no measurable shift' rather than quoting a figure.</a:t>
            </a:r>
          </a:p>
          <a:p>
            <a:r>
              <a:rPr lang="en-US" sz="1200" noProof="1"/>
              <a:t>13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 txBox="1"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200" noProof="1"/>
              <a:t>This slide replaces the old 'in progress / planned' wording. The purification comparison is implemented but not executed to a meaningful sample size, so it is listed under not yet run, not under completed.</a:t>
            </a:r>
          </a:p>
          <a:p>
            <a:r>
              <a:rPr lang="en-US" sz="1200" noProof="1"/>
              <a:t>14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le-top"/>
          <p:cNvSpPr/>
          <p:nvPr/>
        </p:nvSpPr>
        <p:spPr>
          <a:xfrm>
            <a:off x="0" y="0"/>
            <a:ext cx="9144000" cy="762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itle"/>
          <p:cNvSpPr txBox="1"/>
          <p:nvPr/>
        </p:nvSpPr>
        <p:spPr>
          <a:xfrm>
            <a:off x="762000" y="1498600"/>
            <a:ext cx="7620000" cy="127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15000"/>
              </a:lnSpc>
            </a:pPr>
            <a:r>
              <a:rPr lang="en-US" sz="3000" b="1" noProof="1">
                <a:solidFill>
                  <a:srgbClr val="16324F"/>
                </a:solidFill>
                <a:latin typeface="Cambria"/>
                <a:ea typeface="Cambria"/>
              </a:rPr>
              <a:t>Diffusion-Guided Clean-Label Poisoning of CNN Classifiers</a:t>
            </a:r>
            <a:endParaRPr lang="en-US" sz="3000" noProof="1"/>
          </a:p>
        </p:txBody>
      </p:sp>
      <p:sp>
        <p:nvSpPr>
          <p:cNvPr id="4" name="rule-accent"/>
          <p:cNvSpPr/>
          <p:nvPr/>
        </p:nvSpPr>
        <p:spPr>
          <a:xfrm>
            <a:off x="762000" y="2946400"/>
            <a:ext cx="81280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subtitle"/>
          <p:cNvSpPr txBox="1"/>
          <p:nvPr/>
        </p:nvSpPr>
        <p:spPr>
          <a:xfrm>
            <a:off x="762000" y="3200400"/>
            <a:ext cx="762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30000"/>
              </a:lnSpc>
            </a:pPr>
            <a:r>
              <a:rPr lang="en-US" sz="1500" i="1" noProof="1">
                <a:solidFill>
                  <a:srgbClr val="5A6472"/>
                </a:solidFill>
                <a:latin typeface="Calibri"/>
                <a:ea typeface="Calibri"/>
              </a:rPr>
              <a:t>From feature interpolation (PGD) to feature-collision guidance inside reverse diffusion</a:t>
            </a:r>
            <a:endParaRPr lang="en-US" sz="1500" noProof="1"/>
          </a:p>
        </p:txBody>
      </p:sp>
      <p:sp>
        <p:nvSpPr>
          <p:cNvPr id="6" name="author"/>
          <p:cNvSpPr txBox="1"/>
          <p:nvPr/>
        </p:nvSpPr>
        <p:spPr>
          <a:xfrm>
            <a:off x="762000" y="4064000"/>
            <a:ext cx="7620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200" b="1" noProof="1">
                <a:solidFill>
                  <a:srgbClr val="16324F"/>
                </a:solidFill>
                <a:latin typeface="Calibri"/>
                <a:ea typeface="Calibri"/>
              </a:rPr>
              <a:t>Rajat Dulal</a:t>
            </a:r>
            <a:r>
              <a:rPr lang="en-US" sz="1200" noProof="1">
                <a:solidFill>
                  <a:srgbClr val="5A6472"/>
                </a:solidFill>
                <a:latin typeface="Calibri"/>
                <a:ea typeface="Calibri"/>
              </a:rPr>
              <a:t> · Deakin University</a:t>
            </a:r>
            <a:endParaRPr lang="en-US" sz="1200" noProof="1"/>
          </a:p>
          <a:p>
            <a:pPr algn="l">
              <a:lnSpc>
                <a:spcPct val="140000"/>
              </a:lnSpc>
            </a:pPr>
            <a:r>
              <a:rPr lang="en-US" sz="1200" noProof="1">
                <a:solidFill>
                  <a:srgbClr val="5A6472"/>
                </a:solidFill>
                <a:latin typeface="Calibri"/>
                <a:ea typeface="Calibri"/>
              </a:rPr>
              <a:t>Master of Applied Artificial Intelligence · Supervisor: Prof. Dr. Gang Li</a:t>
            </a:r>
            <a:endParaRPr lang="en-US" sz="12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2600" b="1" noProof="1">
                <a:solidFill>
                  <a:srgbClr val="16324F"/>
                </a:solidFill>
                <a:latin typeface="Cambria"/>
                <a:ea typeface="Cambria"/>
              </a:rPr>
              <a:t>Motivation and research aim</a:t>
            </a:r>
            <a:endParaRPr lang="en-US" sz="2600" noProof="1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l">
              <a:lnSpc>
                <a:spcPct val="120000"/>
              </a:lnSpc>
            </a:pPr>
            <a:r>
              <a:rPr lang="en-US" sz="900" noProof="1">
                <a:solidFill>
                  <a:srgbClr val="5A6472"/>
                </a:solidFill>
                <a:latin typeface="Calibri"/>
                <a:ea typeface="Calibri"/>
              </a:rPr>
              <a:t>Rajat Dulal · Clean-label poisoning via guided diffusion</a:t>
            </a:r>
            <a:endParaRPr lang="en-US" sz="900" noProof="1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r">
              <a:lnSpc>
                <a:spcPct val="120000"/>
              </a:lnSpc>
            </a:pPr>
            <a:r>
              <a:rPr lang="en-US" sz="900" noProof="1">
                <a:solidFill>
                  <a:srgbClr val="5A6472"/>
                </a:solidFill>
                <a:latin typeface="Calibri"/>
                <a:ea typeface="Calibri"/>
              </a:rPr>
              <a:t>2 / 16</a:t>
            </a:r>
            <a:endParaRPr lang="en-US" sz="900" noProof="1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l">
              <a:lnSpc>
                <a:spcPct val="120000"/>
              </a:lnSpc>
            </a:pPr>
            <a:r>
              <a:rPr lang="en-US" sz="1500" b="1" noProof="1">
                <a:solidFill>
                  <a:srgbClr val="1F4E79"/>
                </a:solidFill>
                <a:latin typeface="Cambria"/>
                <a:ea typeface="Cambria"/>
              </a:rPr>
              <a:t>Why it matters</a:t>
            </a:r>
            <a:endParaRPr lang="en-US" sz="1500" noProof="1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206240" cy="988060"/>
          </a:xfrm>
          <a:prstGeom prst="roundRect">
            <a:avLst>
              <a:gd name="adj" fmla="val 7407"/>
            </a:avLst>
          </a:prstGeom>
          <a:solidFill>
            <a:srgbClr val="F0F4F8"/>
          </a:solidFill>
          <a:ln w="12700">
            <a:solidFill>
              <a:srgbClr val="F0F4F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94360" y="1445260"/>
            <a:ext cx="328930" cy="32893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94360" y="1445260"/>
            <a:ext cx="328930" cy="3289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ctr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lang="en-US" sz="1200" noProof="1"/>
          </a:p>
        </p:txBody>
      </p:sp>
      <p:sp>
        <p:nvSpPr>
          <p:cNvPr id="9" name="Text 7"/>
          <p:cNvSpPr txBox="1"/>
          <p:nvPr/>
        </p:nvSpPr>
        <p:spPr>
          <a:xfrm>
            <a:off x="1051560" y="1371600"/>
            <a:ext cx="3520440" cy="896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1250" b="1" noProof="1">
                <a:solidFill>
                  <a:srgbClr val="16324F"/>
                </a:solidFill>
                <a:latin typeface="Calibri"/>
                <a:ea typeface="Calibri"/>
              </a:rPr>
              <a:t>Backdoors hide in training data</a:t>
            </a:r>
            <a:endParaRPr lang="en-US" sz="1600" noProof="1"/>
          </a:p>
          <a:p>
            <a:pPr marL="0" algn="l">
              <a:lnSpc>
                <a:spcPct val="120000"/>
              </a:lnSpc>
            </a:pPr>
            <a:r>
              <a:rPr lang="en-US" sz="1100" noProof="1">
                <a:solidFill>
                  <a:srgbClr val="5A6472"/>
                </a:solidFill>
                <a:latin typeface="Calibri"/>
                <a:ea typeface="Calibri"/>
              </a:rPr>
              <a:t>Image classifiers run in healthcare, vehicles, surveillance and biometrics. A backdoored model behaves normally until the attacker's condition appears.</a:t>
            </a:r>
            <a:endParaRPr lang="en-US" sz="1600" noProof="1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4206240" cy="988060"/>
          </a:xfrm>
          <a:prstGeom prst="roundRect">
            <a:avLst>
              <a:gd name="adj" fmla="val 7407"/>
            </a:avLst>
          </a:prstGeom>
          <a:solidFill>
            <a:srgbClr val="F0F4F8"/>
          </a:solidFill>
          <a:ln w="12700">
            <a:solidFill>
              <a:srgbClr val="F0F4F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94360" y="2542540"/>
            <a:ext cx="328930" cy="32893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94360" y="2542540"/>
            <a:ext cx="328930" cy="3289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ctr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lang="en-US" sz="1200" noProof="1"/>
          </a:p>
        </p:txBody>
      </p:sp>
      <p:sp>
        <p:nvSpPr>
          <p:cNvPr id="13" name="Text 11"/>
          <p:cNvSpPr txBox="1"/>
          <p:nvPr/>
        </p:nvSpPr>
        <p:spPr>
          <a:xfrm>
            <a:off x="1051560" y="2468880"/>
            <a:ext cx="3520440" cy="896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1250" b="1" noProof="1">
                <a:solidFill>
                  <a:srgbClr val="16324F"/>
                </a:solidFill>
                <a:latin typeface="Calibri"/>
                <a:ea typeface="Calibri"/>
              </a:rPr>
              <a:t>Clean-label attacks are the hard case</a:t>
            </a:r>
            <a:endParaRPr lang="en-US" sz="1600" noProof="1"/>
          </a:p>
          <a:p>
            <a:pPr marL="0" algn="l">
              <a:lnSpc>
                <a:spcPct val="120000"/>
              </a:lnSpc>
            </a:pPr>
            <a:r>
              <a:rPr lang="en-US" sz="1100" noProof="1">
                <a:solidFill>
                  <a:srgbClr val="5A6472"/>
                </a:solidFill>
                <a:latin typeface="Calibri"/>
                <a:ea typeface="Calibri"/>
              </a:rPr>
              <a:t>Poisons keep their correct labels, so they pass human and automated label checks. Training data is often external or crowd-sourced.</a:t>
            </a:r>
            <a:endParaRPr lang="en-US" sz="1600" noProof="1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4206240" cy="988060"/>
          </a:xfrm>
          <a:prstGeom prst="roundRect">
            <a:avLst>
              <a:gd name="adj" fmla="val 7407"/>
            </a:avLst>
          </a:prstGeom>
          <a:solidFill>
            <a:srgbClr val="F0F4F8"/>
          </a:solidFill>
          <a:ln w="12700">
            <a:solidFill>
              <a:srgbClr val="F0F4F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94360" y="3639820"/>
            <a:ext cx="328930" cy="32893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94360" y="3639820"/>
            <a:ext cx="328930" cy="3289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ctr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lang="en-US" sz="1200" noProof="1"/>
          </a:p>
        </p:txBody>
      </p:sp>
      <p:sp>
        <p:nvSpPr>
          <p:cNvPr id="17" name="Text 15"/>
          <p:cNvSpPr txBox="1"/>
          <p:nvPr/>
        </p:nvSpPr>
        <p:spPr>
          <a:xfrm>
            <a:off x="1051560" y="3566160"/>
            <a:ext cx="3520440" cy="8966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1250" b="1" noProof="1">
                <a:solidFill>
                  <a:srgbClr val="16324F"/>
                </a:solidFill>
                <a:latin typeface="Calibri"/>
                <a:ea typeface="Calibri"/>
              </a:rPr>
              <a:t>The open problem</a:t>
            </a:r>
            <a:endParaRPr lang="en-US" sz="1600" noProof="1"/>
          </a:p>
          <a:p>
            <a:pPr marL="0" algn="l">
              <a:lnSpc>
                <a:spcPct val="120000"/>
              </a:lnSpc>
            </a:pPr>
            <a:r>
              <a:rPr lang="en-US" sz="1100" noProof="1">
                <a:solidFill>
                  <a:srgbClr val="5A6472"/>
                </a:solidFill>
                <a:latin typeface="Calibri"/>
                <a:ea typeface="Calibri"/>
              </a:rPr>
              <a:t>Existing attacks often need high poison ratios or strong attacker knowledge, or give up stealth for strength. Diffusion models were almost unexplored as poison generators for CNNs.</a:t>
            </a:r>
            <a:endParaRPr lang="en-US" sz="1600" noProof="1"/>
          </a:p>
        </p:txBody>
      </p:sp>
      <p:sp>
        <p:nvSpPr>
          <p:cNvPr id="18" name="Shape 16"/>
          <p:cNvSpPr/>
          <p:nvPr/>
        </p:nvSpPr>
        <p:spPr>
          <a:xfrm>
            <a:off x="4892040" y="960120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16324F"/>
          </a:solidFill>
          <a:ln w="12700">
            <a:solidFill>
              <a:srgbClr val="16324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074920" y="105156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l">
              <a:lnSpc>
                <a:spcPct val="120000"/>
              </a:lnSpc>
            </a:pPr>
            <a:r>
              <a:rPr lang="en-US" sz="1500" b="1" noProof="1">
                <a:solidFill>
                  <a:srgbClr val="9A7418"/>
                </a:solidFill>
                <a:latin typeface="Cambria"/>
                <a:ea typeface="Cambria"/>
              </a:rPr>
              <a:t>Research aim</a:t>
            </a:r>
            <a:endParaRPr lang="en-US" sz="1500" noProof="1"/>
          </a:p>
        </p:txBody>
      </p:sp>
      <p:sp>
        <p:nvSpPr>
          <p:cNvPr id="20" name="Text 18"/>
          <p:cNvSpPr txBox="1"/>
          <p:nvPr/>
        </p:nvSpPr>
        <p:spPr>
          <a:xfrm>
            <a:off x="5074920" y="1417320"/>
            <a:ext cx="3474720" cy="1325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1350" noProof="1">
                <a:solidFill>
                  <a:srgbClr val="FFFFFF"/>
                </a:solidFill>
                <a:latin typeface="Calibri"/>
                <a:ea typeface="Calibri"/>
              </a:rPr>
              <a:t>Design and evaluate stealthy clean-label backdoor attacks on CNN image classifiers, and test whether diffusion models improve on GAN- and PGD-based poison generation.</a:t>
            </a:r>
            <a:endParaRPr lang="en-US" sz="1350" noProof="1"/>
          </a:p>
        </p:txBody>
      </p:sp>
      <p:sp>
        <p:nvSpPr>
          <p:cNvPr id="21" name="Shape 19"/>
          <p:cNvSpPr/>
          <p:nvPr/>
        </p:nvSpPr>
        <p:spPr>
          <a:xfrm>
            <a:off x="5074920" y="2788920"/>
            <a:ext cx="3474720" cy="731520"/>
          </a:xfrm>
          <a:prstGeom prst="roundRect">
            <a:avLst>
              <a:gd name="adj" fmla="val 7500"/>
            </a:avLst>
          </a:prstGeom>
          <a:solidFill>
            <a:srgbClr val="5A6472"/>
          </a:solidFill>
          <a:ln w="12700">
            <a:solidFill>
              <a:srgbClr val="5A647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5212080" y="278892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l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Calibri"/>
                <a:ea typeface="Calibri"/>
              </a:rPr>
              <a:t>SIT723 · Phase 1</a:t>
            </a:r>
            <a:endParaRPr lang="en-US" sz="1600" noProof="1"/>
          </a:p>
          <a:p>
            <a:pPr marL="0" algn="l">
              <a:lnSpc>
                <a:spcPct val="120000"/>
              </a:lnSpc>
            </a:pPr>
            <a:r>
              <a:rPr lang="en-US" sz="1100" noProof="1">
                <a:solidFill>
                  <a:srgbClr val="FFFFFF"/>
                </a:solidFill>
                <a:latin typeface="Calibri"/>
                <a:ea typeface="Calibri"/>
              </a:rPr>
              <a:t>Feature interpolation + PGD inversion (baseline)</a:t>
            </a:r>
            <a:endParaRPr lang="en-US" sz="1600" noProof="1"/>
          </a:p>
        </p:txBody>
      </p:sp>
      <p:sp>
        <p:nvSpPr>
          <p:cNvPr id="23" name="Shape 21"/>
          <p:cNvSpPr/>
          <p:nvPr/>
        </p:nvSpPr>
        <p:spPr>
          <a:xfrm>
            <a:off x="5074920" y="3657600"/>
            <a:ext cx="3474720" cy="731520"/>
          </a:xfrm>
          <a:prstGeom prst="roundRect">
            <a:avLst>
              <a:gd name="adj" fmla="val 7500"/>
            </a:avLst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5212080" y="3657600"/>
            <a:ext cx="32004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l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Calibri"/>
                <a:ea typeface="Calibri"/>
              </a:rPr>
              <a:t>SIT746 · Phase 2</a:t>
            </a:r>
            <a:endParaRPr lang="en-US" sz="1600" noProof="1"/>
          </a:p>
          <a:p>
            <a:pPr marL="0" algn="l">
              <a:lnSpc>
                <a:spcPct val="120000"/>
              </a:lnSpc>
            </a:pPr>
            <a:r>
              <a:rPr lang="en-US" sz="1100" noProof="1">
                <a:solidFill>
                  <a:srgbClr val="FFFFFF"/>
                </a:solidFill>
                <a:latin typeface="Calibri"/>
                <a:ea typeface="Calibri"/>
              </a:rPr>
              <a:t>Feature-collision guidance inside reverse diffusion</a:t>
            </a:r>
            <a:endParaRPr lang="en-US" sz="16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2600" b="1" noProof="1">
                <a:solidFill>
                  <a:srgbClr val="16324F"/>
                </a:solidFill>
                <a:latin typeface="Cambria"/>
                <a:ea typeface="Cambria"/>
              </a:rPr>
              <a:t>Literature review and identified gaps</a:t>
            </a:r>
            <a:endParaRPr lang="en-US" sz="2600" noProof="1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l">
              <a:lnSpc>
                <a:spcPct val="120000"/>
              </a:lnSpc>
            </a:pPr>
            <a:r>
              <a:rPr lang="en-US" sz="900" noProof="1">
                <a:solidFill>
                  <a:srgbClr val="5A6472"/>
                </a:solidFill>
                <a:latin typeface="Calibri"/>
                <a:ea typeface="Calibri"/>
              </a:rPr>
              <a:t>Rajat Dulal · Clean-label poisoning via guided diffusion</a:t>
            </a:r>
            <a:endParaRPr lang="en-US" sz="900" noProof="1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r">
              <a:lnSpc>
                <a:spcPct val="120000"/>
              </a:lnSpc>
            </a:pPr>
            <a:r>
              <a:rPr lang="en-US" sz="900" noProof="1">
                <a:solidFill>
                  <a:srgbClr val="5A6472"/>
                </a:solidFill>
                <a:latin typeface="Calibri"/>
                <a:ea typeface="Calibri"/>
              </a:rPr>
              <a:t>3 / 16</a:t>
            </a:r>
            <a:endParaRPr lang="en-US" sz="900" noProof="1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206240" cy="1783080"/>
          </a:xfrm>
          <a:prstGeom prst="roundRect">
            <a:avLst>
              <a:gd name="adj" fmla="val 4103"/>
            </a:avLst>
          </a:prstGeom>
          <a:solidFill>
            <a:srgbClr val="F0F4F8"/>
          </a:solidFill>
          <a:ln w="12700">
            <a:solidFill>
              <a:srgbClr val="F0F4F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94360" y="1115060"/>
            <a:ext cx="393192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1300" b="1" noProof="1">
                <a:solidFill>
                  <a:srgbClr val="1F4E79"/>
                </a:solidFill>
                <a:latin typeface="Calibri"/>
                <a:ea typeface="Calibri"/>
              </a:rPr>
              <a:t>Clean-label attack families</a:t>
            </a:r>
            <a:endParaRPr lang="en-US" sz="1600" noProof="1"/>
          </a:p>
          <a:p>
            <a:pPr marL="342900" algn="l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150" noProof="1">
                <a:solidFill>
                  <a:srgbClr val="16324F"/>
                </a:solidFill>
                <a:latin typeface="Calibri"/>
                <a:ea typeface="Calibri"/>
              </a:rPr>
              <a:t>Feature collision: Poison Frogs, Hidden Trigger. Poisons collide with the target in feature space.</a:t>
            </a:r>
            <a:endParaRPr lang="en-US" sz="1600" noProof="1"/>
          </a:p>
          <a:p>
            <a:pPr marL="342900" algn="l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150" noProof="1">
                <a:solidFill>
                  <a:srgbClr val="16324F"/>
                </a:solidFill>
                <a:latin typeface="Calibri"/>
                <a:ea typeface="Calibri"/>
              </a:rPr>
              <a:t>Adversarial / generative: Label-Consistent (GAN interpolation), CleanSheet.</a:t>
            </a:r>
            <a:endParaRPr lang="en-US" sz="1600" noProof="1"/>
          </a:p>
          <a:p>
            <a:pPr marL="342900" algn="l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150" noProof="1">
                <a:solidFill>
                  <a:srgbClr val="16324F"/>
                </a:solidFill>
                <a:latin typeface="Calibri"/>
                <a:ea typeface="Calibri"/>
              </a:rPr>
              <a:t>Limited information: Narcissus. Surrogate trained on target class only, inward-pointing trigger.</a:t>
            </a:r>
            <a:endParaRPr lang="en-US" sz="1600" noProof="1"/>
          </a:p>
        </p:txBody>
      </p:sp>
      <p:sp>
        <p:nvSpPr>
          <p:cNvPr id="7" name="Shape 5"/>
          <p:cNvSpPr/>
          <p:nvPr/>
        </p:nvSpPr>
        <p:spPr>
          <a:xfrm>
            <a:off x="457200" y="2971800"/>
            <a:ext cx="4206240" cy="1600200"/>
          </a:xfrm>
          <a:prstGeom prst="roundRect">
            <a:avLst>
              <a:gd name="adj" fmla="val 4571"/>
            </a:avLst>
          </a:prstGeom>
          <a:solidFill>
            <a:srgbClr val="F0F4F8"/>
          </a:solidFill>
          <a:ln w="12700">
            <a:solidFill>
              <a:srgbClr val="F0F4F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94360" y="3035300"/>
            <a:ext cx="393192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1300" b="1" noProof="1">
                <a:solidFill>
                  <a:srgbClr val="1F4E79"/>
                </a:solidFill>
                <a:latin typeface="Calibri"/>
                <a:ea typeface="Calibri"/>
              </a:rPr>
              <a:t>Diffusion models in prior work</a:t>
            </a:r>
            <a:endParaRPr lang="en-US" sz="1600" noProof="1"/>
          </a:p>
          <a:p>
            <a:pPr marL="342900" algn="l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150" noProof="1">
                <a:solidFill>
                  <a:srgbClr val="16324F"/>
                </a:solidFill>
                <a:latin typeface="Calibri"/>
                <a:ea typeface="Calibri"/>
              </a:rPr>
              <a:t>As defences: DiffPure, ECLIPSE.</a:t>
            </a:r>
            <a:endParaRPr lang="en-US" sz="1600" noProof="1"/>
          </a:p>
          <a:p>
            <a:pPr marL="342900" algn="l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150" noProof="1">
                <a:solidFill>
                  <a:srgbClr val="16324F"/>
                </a:solidFill>
                <a:latin typeface="Calibri"/>
                <a:ea typeface="Calibri"/>
              </a:rPr>
              <a:t>As the poisoning target: Pan et al.</a:t>
            </a:r>
            <a:endParaRPr lang="en-US" sz="1600" noProof="1"/>
          </a:p>
          <a:p>
            <a:pPr marL="342900" algn="l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150" noProof="1">
                <a:solidFill>
                  <a:srgbClr val="16324F"/>
                </a:solidFill>
                <a:latin typeface="Calibri"/>
                <a:ea typeface="Calibri"/>
              </a:rPr>
              <a:t>As a two-stage generator: Souri et al. make base images with guided diffusion, then run gradient matching.</a:t>
            </a:r>
            <a:endParaRPr lang="en-US" sz="1600" noProof="1"/>
          </a:p>
        </p:txBody>
      </p:sp>
      <p:sp>
        <p:nvSpPr>
          <p:cNvPr id="9" name="Shape 7"/>
          <p:cNvSpPr/>
          <p:nvPr/>
        </p:nvSpPr>
        <p:spPr>
          <a:xfrm>
            <a:off x="4892040" y="1051560"/>
            <a:ext cx="3794760" cy="3520440"/>
          </a:xfrm>
          <a:prstGeom prst="roundRect">
            <a:avLst>
              <a:gd name="adj" fmla="val 2078"/>
            </a:avLst>
          </a:prstGeom>
          <a:solidFill>
            <a:srgbClr val="16324F"/>
          </a:solidFill>
          <a:ln w="12700">
            <a:solidFill>
              <a:srgbClr val="16324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074920" y="114300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l">
              <a:lnSpc>
                <a:spcPct val="120000"/>
              </a:lnSpc>
            </a:pPr>
            <a:r>
              <a:rPr lang="en-US" sz="1600" b="1" noProof="1">
                <a:solidFill>
                  <a:srgbClr val="FFFFFF"/>
                </a:solidFill>
                <a:latin typeface="Cambria"/>
                <a:ea typeface="Cambria"/>
              </a:rPr>
              <a:t>Identified gaps</a:t>
            </a:r>
            <a:endParaRPr lang="en-US" sz="1600" noProof="1"/>
          </a:p>
        </p:txBody>
      </p:sp>
      <p:sp>
        <p:nvSpPr>
          <p:cNvPr id="11" name="Shape 9"/>
          <p:cNvSpPr/>
          <p:nvPr/>
        </p:nvSpPr>
        <p:spPr>
          <a:xfrm>
            <a:off x="5074920" y="1673860"/>
            <a:ext cx="328930" cy="32893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5074920" y="1673860"/>
            <a:ext cx="328930" cy="3289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ctr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lang="en-US" sz="1200" noProof="1"/>
          </a:p>
        </p:txBody>
      </p:sp>
      <p:sp>
        <p:nvSpPr>
          <p:cNvPr id="13" name="Text 11"/>
          <p:cNvSpPr txBox="1"/>
          <p:nvPr/>
        </p:nvSpPr>
        <p:spPr>
          <a:xfrm>
            <a:off x="5532120" y="1628140"/>
            <a:ext cx="301752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1250" b="1" noProof="1">
                <a:solidFill>
                  <a:srgbClr val="FFFFFF"/>
                </a:solidFill>
                <a:latin typeface="Calibri"/>
                <a:ea typeface="Calibri"/>
              </a:rPr>
              <a:t>Arbitrary triggers</a:t>
            </a:r>
            <a:endParaRPr lang="en-US" sz="1600" noProof="1"/>
          </a:p>
          <a:p>
            <a:pPr marL="0" algn="l">
              <a:lnSpc>
                <a:spcPct val="120000"/>
              </a:lnSpc>
            </a:pPr>
            <a:r>
              <a:rPr lang="en-US" sz="1100" noProof="1">
                <a:solidFill>
                  <a:srgbClr val="C3CFDD"/>
                </a:solidFill>
                <a:latin typeface="Calibri"/>
                <a:ea typeface="Calibri"/>
              </a:rPr>
              <a:t>Perturbations start from noise or a fixed pattern, not a semantic target-class representation.</a:t>
            </a:r>
            <a:endParaRPr lang="en-US" sz="1600" noProof="1"/>
          </a:p>
        </p:txBody>
      </p:sp>
      <p:sp>
        <p:nvSpPr>
          <p:cNvPr id="14" name="Shape 12"/>
          <p:cNvSpPr/>
          <p:nvPr/>
        </p:nvSpPr>
        <p:spPr>
          <a:xfrm>
            <a:off x="5074920" y="2633980"/>
            <a:ext cx="328930" cy="32893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074920" y="2633980"/>
            <a:ext cx="328930" cy="3289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ctr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lang="en-US" sz="1200" noProof="1"/>
          </a:p>
        </p:txBody>
      </p:sp>
      <p:sp>
        <p:nvSpPr>
          <p:cNvPr id="16" name="Text 14"/>
          <p:cNvSpPr txBox="1"/>
          <p:nvPr/>
        </p:nvSpPr>
        <p:spPr>
          <a:xfrm>
            <a:off x="5532120" y="2588260"/>
            <a:ext cx="301752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1250" b="1" noProof="1">
                <a:solidFill>
                  <a:srgbClr val="FFFFFF"/>
                </a:solidFill>
                <a:latin typeface="Calibri"/>
                <a:ea typeface="Calibri"/>
              </a:rPr>
              <a:t>High attacker knowledge</a:t>
            </a:r>
            <a:endParaRPr lang="en-US" sz="1600" noProof="1"/>
          </a:p>
          <a:p>
            <a:pPr marL="0" algn="l">
              <a:lnSpc>
                <a:spcPct val="120000"/>
              </a:lnSpc>
            </a:pPr>
            <a:r>
              <a:rPr lang="en-US" sz="1100" noProof="1">
                <a:solidFill>
                  <a:srgbClr val="C3CFDD"/>
                </a:solidFill>
                <a:latin typeface="Calibri"/>
                <a:ea typeface="Calibri"/>
              </a:rPr>
              <a:t>Many attacks assume white-box access or a large poisoning ratio.</a:t>
            </a:r>
            <a:endParaRPr lang="en-US" sz="1600" noProof="1"/>
          </a:p>
        </p:txBody>
      </p:sp>
      <p:sp>
        <p:nvSpPr>
          <p:cNvPr id="17" name="Shape 15"/>
          <p:cNvSpPr/>
          <p:nvPr/>
        </p:nvSpPr>
        <p:spPr>
          <a:xfrm>
            <a:off x="5074920" y="3594100"/>
            <a:ext cx="328930" cy="328930"/>
          </a:xfrm>
          <a:prstGeom prst="ellipse">
            <a:avLst/>
          </a:prstGeom>
          <a:solidFill>
            <a:srgbClr val="9A7418"/>
          </a:solidFill>
          <a:ln w="12700">
            <a:solidFill>
              <a:srgbClr val="9A741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5074920" y="3594100"/>
            <a:ext cx="328930" cy="3289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ctr">
              <a:lnSpc>
                <a:spcPct val="120000"/>
              </a:lnSpc>
            </a:pPr>
            <a:r>
              <a:rPr lang="en-US" sz="1200" b="1" noProof="1">
                <a:solidFill>
                  <a:srgbClr val="16324F"/>
                </a:solidFill>
                <a:latin typeface="Calibri"/>
                <a:ea typeface="Calibri"/>
              </a:rPr>
              <a:t>3</a:t>
            </a:r>
            <a:endParaRPr lang="en-US" sz="1200" noProof="1"/>
          </a:p>
        </p:txBody>
      </p:sp>
      <p:sp>
        <p:nvSpPr>
          <p:cNvPr id="19" name="Text 17"/>
          <p:cNvSpPr txBox="1"/>
          <p:nvPr/>
        </p:nvSpPr>
        <p:spPr>
          <a:xfrm>
            <a:off x="5532120" y="3548380"/>
            <a:ext cx="301752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1250" b="1" noProof="1">
                <a:solidFill>
                  <a:srgbClr val="FFFFFF"/>
                </a:solidFill>
                <a:latin typeface="Calibri"/>
                <a:ea typeface="Calibri"/>
              </a:rPr>
              <a:t>Diffusion as a single-stage generator</a:t>
            </a:r>
            <a:endParaRPr lang="en-US" sz="1600" noProof="1"/>
          </a:p>
          <a:p>
            <a:pPr marL="0" algn="l">
              <a:lnSpc>
                <a:spcPct val="120000"/>
              </a:lnSpc>
            </a:pPr>
            <a:r>
              <a:rPr lang="en-US" sz="1100" noProof="1">
                <a:solidFill>
                  <a:srgbClr val="C3CFDD"/>
                </a:solidFill>
                <a:latin typeface="Calibri"/>
                <a:ea typeface="Calibri"/>
              </a:rPr>
              <a:t>No work puts the collision objective inside the sampling loop for CNN classifiers. This thesis targets this gap.</a:t>
            </a:r>
            <a:endParaRPr lang="en-US" sz="16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2600" b="1" noProof="1">
                <a:solidFill>
                  <a:srgbClr val="16324F"/>
                </a:solidFill>
                <a:latin typeface="Cambria"/>
                <a:ea typeface="Cambria"/>
              </a:rPr>
              <a:t>Research questions and how far the evidence goes</a:t>
            </a:r>
            <a:endParaRPr lang="en-US" sz="2600" noProof="1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l">
              <a:lnSpc>
                <a:spcPct val="120000"/>
              </a:lnSpc>
            </a:pPr>
            <a:r>
              <a:rPr lang="en-US" sz="900" noProof="1">
                <a:solidFill>
                  <a:srgbClr val="5A6472"/>
                </a:solidFill>
                <a:latin typeface="Calibri"/>
                <a:ea typeface="Calibri"/>
              </a:rPr>
              <a:t>Rajat Dulal · Clean-label poisoning via guided diffusion</a:t>
            </a:r>
            <a:endParaRPr lang="en-US" sz="900" noProof="1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r">
              <a:lnSpc>
                <a:spcPct val="120000"/>
              </a:lnSpc>
            </a:pPr>
            <a:r>
              <a:rPr lang="en-US" sz="900" noProof="1">
                <a:solidFill>
                  <a:srgbClr val="5A6472"/>
                </a:solidFill>
                <a:latin typeface="Calibri"/>
                <a:ea typeface="Calibri"/>
              </a:rPr>
              <a:t>4 / 16</a:t>
            </a:r>
            <a:endParaRPr lang="en-US" sz="900" noProof="1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2651760" cy="3063240"/>
          </a:xfrm>
          <a:prstGeom prst="roundRect">
            <a:avLst>
              <a:gd name="adj" fmla="val 2759"/>
            </a:avLst>
          </a:prstGeom>
          <a:solidFill>
            <a:srgbClr val="F0F4F8"/>
          </a:solidFill>
          <a:ln w="12700">
            <a:solidFill>
              <a:srgbClr val="F0F4F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18872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l">
              <a:lnSpc>
                <a:spcPct val="120000"/>
              </a:lnSpc>
            </a:pPr>
            <a:r>
              <a:rPr lang="en-US" sz="2200" b="1" noProof="1">
                <a:solidFill>
                  <a:srgbClr val="1F4E79"/>
                </a:solidFill>
                <a:latin typeface="Cambria"/>
                <a:ea typeface="Cambria"/>
              </a:rPr>
              <a:t>RQ1</a:t>
            </a:r>
            <a:endParaRPr lang="en-US" sz="2200" noProof="1"/>
          </a:p>
        </p:txBody>
      </p:sp>
      <p:sp>
        <p:nvSpPr>
          <p:cNvPr id="7" name="Shape 5"/>
          <p:cNvSpPr/>
          <p:nvPr/>
        </p:nvSpPr>
        <p:spPr>
          <a:xfrm>
            <a:off x="1783080" y="1262380"/>
            <a:ext cx="1188720" cy="256540"/>
          </a:xfrm>
          <a:prstGeom prst="roundRect">
            <a:avLst>
              <a:gd name="adj" fmla="val 50000"/>
            </a:avLst>
          </a:prstGeom>
          <a:solidFill>
            <a:srgbClr val="9A7418"/>
          </a:solidFill>
          <a:ln w="12700">
            <a:solidFill>
              <a:srgbClr val="9A741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1783080" y="1262380"/>
            <a:ext cx="1188720" cy="2565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ctr">
              <a:lnSpc>
                <a:spcPct val="120000"/>
              </a:lnSpc>
            </a:pPr>
            <a:r>
              <a:rPr lang="en-US" sz="1000" b="1" noProof="1">
                <a:solidFill>
                  <a:srgbClr val="FFFFFF"/>
                </a:solidFill>
                <a:latin typeface="Calibri"/>
                <a:ea typeface="Calibri"/>
              </a:rPr>
              <a:t>Partly answered</a:t>
            </a:r>
            <a:endParaRPr lang="en-US" sz="1000" noProof="1"/>
          </a:p>
        </p:txBody>
      </p:sp>
      <p:sp>
        <p:nvSpPr>
          <p:cNvPr id="9" name="Text 7"/>
          <p:cNvSpPr txBox="1"/>
          <p:nvPr/>
        </p:nvSpPr>
        <p:spPr>
          <a:xfrm>
            <a:off x="640080" y="1691640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1300" b="1" noProof="1">
                <a:solidFill>
                  <a:srgbClr val="16324F"/>
                </a:solidFill>
                <a:latin typeface="Calibri"/>
                <a:ea typeface="Calibri"/>
              </a:rPr>
              <a:t>Maximise ASR while keeping CDA high</a:t>
            </a:r>
            <a:endParaRPr lang="en-US" sz="1300" noProof="1"/>
          </a:p>
        </p:txBody>
      </p:sp>
      <p:sp>
        <p:nvSpPr>
          <p:cNvPr id="10" name="Text 8"/>
          <p:cNvSpPr txBox="1"/>
          <p:nvPr/>
        </p:nvSpPr>
        <p:spPr>
          <a:xfrm>
            <a:off x="640080" y="2514600"/>
            <a:ext cx="2331720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1300" noProof="1">
                <a:solidFill>
                  <a:srgbClr val="16324F"/>
                </a:solidFill>
                <a:latin typeface="Calibri"/>
                <a:ea typeface="Calibri"/>
              </a:rPr>
              <a:t>Stealth/strength trade-off mapped in both phases (λ in Phase 1, t_start in Phase 2). Not yet tuned to a best operating point.</a:t>
            </a:r>
            <a:endParaRPr lang="en-US" sz="1300" noProof="1"/>
          </a:p>
        </p:txBody>
      </p:sp>
      <p:sp>
        <p:nvSpPr>
          <p:cNvPr id="11" name="Shape 9"/>
          <p:cNvSpPr/>
          <p:nvPr/>
        </p:nvSpPr>
        <p:spPr>
          <a:xfrm>
            <a:off x="3246120" y="1097280"/>
            <a:ext cx="2651760" cy="3063240"/>
          </a:xfrm>
          <a:prstGeom prst="roundRect">
            <a:avLst>
              <a:gd name="adj" fmla="val 2759"/>
            </a:avLst>
          </a:prstGeom>
          <a:solidFill>
            <a:srgbClr val="F0F4F8"/>
          </a:solidFill>
          <a:ln w="12700">
            <a:solidFill>
              <a:srgbClr val="F0F4F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3429000" y="118872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l">
              <a:lnSpc>
                <a:spcPct val="120000"/>
              </a:lnSpc>
            </a:pPr>
            <a:r>
              <a:rPr lang="en-US" sz="2200" b="1" noProof="1">
                <a:solidFill>
                  <a:srgbClr val="1F4E79"/>
                </a:solidFill>
                <a:latin typeface="Cambria"/>
                <a:ea typeface="Cambria"/>
              </a:rPr>
              <a:t>RQ2</a:t>
            </a:r>
            <a:endParaRPr lang="en-US" sz="2200" noProof="1"/>
          </a:p>
        </p:txBody>
      </p:sp>
      <p:sp>
        <p:nvSpPr>
          <p:cNvPr id="13" name="Shape 11"/>
          <p:cNvSpPr/>
          <p:nvPr/>
        </p:nvSpPr>
        <p:spPr>
          <a:xfrm>
            <a:off x="4572000" y="1262380"/>
            <a:ext cx="1188720" cy="256540"/>
          </a:xfrm>
          <a:prstGeom prst="roundRect">
            <a:avLst>
              <a:gd name="adj" fmla="val 50000"/>
            </a:avLst>
          </a:prstGeom>
          <a:solidFill>
            <a:srgbClr val="9A7418"/>
          </a:solidFill>
          <a:ln w="12700">
            <a:solidFill>
              <a:srgbClr val="9A741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572000" y="1262380"/>
            <a:ext cx="1188720" cy="2565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ctr">
              <a:lnSpc>
                <a:spcPct val="120000"/>
              </a:lnSpc>
            </a:pPr>
            <a:r>
              <a:rPr lang="en-US" sz="1000" b="1" noProof="1">
                <a:solidFill>
                  <a:srgbClr val="FFFFFF"/>
                </a:solidFill>
                <a:latin typeface="Calibri"/>
                <a:ea typeface="Calibri"/>
              </a:rPr>
              <a:t>Partly answered</a:t>
            </a:r>
            <a:endParaRPr lang="en-US" sz="1000" noProof="1"/>
          </a:p>
        </p:txBody>
      </p:sp>
      <p:sp>
        <p:nvSpPr>
          <p:cNvPr id="15" name="Text 13"/>
          <p:cNvSpPr txBox="1"/>
          <p:nvPr/>
        </p:nvSpPr>
        <p:spPr>
          <a:xfrm>
            <a:off x="3429000" y="1691640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1300" b="1" noProof="1">
                <a:solidFill>
                  <a:srgbClr val="16324F"/>
                </a:solidFill>
                <a:latin typeface="Calibri"/>
                <a:ea typeface="Calibri"/>
              </a:rPr>
              <a:t>Robustness across architectures, settings, defences</a:t>
            </a:r>
            <a:endParaRPr lang="en-US" sz="1300" noProof="1"/>
          </a:p>
        </p:txBody>
      </p:sp>
      <p:sp>
        <p:nvSpPr>
          <p:cNvPr id="16" name="Text 14"/>
          <p:cNvSpPr txBox="1"/>
          <p:nvPr/>
        </p:nvSpPr>
        <p:spPr>
          <a:xfrm>
            <a:off x="3429000" y="2514600"/>
            <a:ext cx="2331720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1300" noProof="1">
                <a:solidFill>
                  <a:srgbClr val="16324F"/>
                </a:solidFill>
                <a:latin typeface="Calibri"/>
                <a:ea typeface="Calibri"/>
              </a:rPr>
              <a:t>Cross-architecture transfer and a pretrained-victim failure are measured. Neural Cleanse, STRIP, ANP and DiffPure are not yet run.</a:t>
            </a:r>
            <a:endParaRPr lang="en-US" sz="1300" noProof="1"/>
          </a:p>
        </p:txBody>
      </p:sp>
      <p:sp>
        <p:nvSpPr>
          <p:cNvPr id="17" name="Shape 15"/>
          <p:cNvSpPr/>
          <p:nvPr/>
        </p:nvSpPr>
        <p:spPr>
          <a:xfrm>
            <a:off x="6035040" y="1097280"/>
            <a:ext cx="2651760" cy="3063240"/>
          </a:xfrm>
          <a:prstGeom prst="roundRect">
            <a:avLst>
              <a:gd name="adj" fmla="val 2759"/>
            </a:avLst>
          </a:prstGeom>
          <a:solidFill>
            <a:srgbClr val="F0F4F8"/>
          </a:solidFill>
          <a:ln w="12700">
            <a:solidFill>
              <a:srgbClr val="F0F4F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217920" y="1188720"/>
            <a:ext cx="10972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l">
              <a:lnSpc>
                <a:spcPct val="120000"/>
              </a:lnSpc>
            </a:pPr>
            <a:r>
              <a:rPr lang="en-US" sz="2200" b="1" noProof="1">
                <a:solidFill>
                  <a:srgbClr val="1F4E79"/>
                </a:solidFill>
                <a:latin typeface="Cambria"/>
                <a:ea typeface="Cambria"/>
              </a:rPr>
              <a:t>RQ3</a:t>
            </a:r>
            <a:endParaRPr lang="en-US" sz="2200" noProof="1"/>
          </a:p>
        </p:txBody>
      </p:sp>
      <p:sp>
        <p:nvSpPr>
          <p:cNvPr id="19" name="Shape 17"/>
          <p:cNvSpPr/>
          <p:nvPr/>
        </p:nvSpPr>
        <p:spPr>
          <a:xfrm>
            <a:off x="7360920" y="1262380"/>
            <a:ext cx="1188720" cy="256540"/>
          </a:xfrm>
          <a:prstGeom prst="roundRect">
            <a:avLst>
              <a:gd name="adj" fmla="val 50000"/>
            </a:avLst>
          </a:prstGeom>
          <a:solidFill>
            <a:srgbClr val="2F7D57"/>
          </a:solidFill>
          <a:ln w="12700">
            <a:solidFill>
              <a:srgbClr val="2F7D5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7360920" y="1262380"/>
            <a:ext cx="1188720" cy="2565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ctr">
              <a:lnSpc>
                <a:spcPct val="120000"/>
              </a:lnSpc>
            </a:pPr>
            <a:r>
              <a:rPr lang="en-US" sz="1000" b="1" noProof="1">
                <a:solidFill>
                  <a:srgbClr val="FFFFFF"/>
                </a:solidFill>
                <a:latin typeface="Calibri"/>
                <a:ea typeface="Calibri"/>
              </a:rPr>
              <a:t>Qualified yes</a:t>
            </a:r>
            <a:endParaRPr lang="en-US" sz="1000" noProof="1"/>
          </a:p>
        </p:txBody>
      </p:sp>
      <p:sp>
        <p:nvSpPr>
          <p:cNvPr id="21" name="Text 19"/>
          <p:cNvSpPr txBox="1"/>
          <p:nvPr/>
        </p:nvSpPr>
        <p:spPr>
          <a:xfrm>
            <a:off x="6217920" y="1691640"/>
            <a:ext cx="233172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1300" b="1" noProof="1">
                <a:solidFill>
                  <a:srgbClr val="16324F"/>
                </a:solidFill>
                <a:latin typeface="Calibri"/>
                <a:ea typeface="Calibri"/>
              </a:rPr>
              <a:t>Diffusion vs. GAN / PGD generation</a:t>
            </a:r>
            <a:endParaRPr lang="en-US" sz="1300" noProof="1"/>
          </a:p>
        </p:txBody>
      </p:sp>
      <p:sp>
        <p:nvSpPr>
          <p:cNvPr id="22" name="Text 20"/>
          <p:cNvSpPr txBox="1"/>
          <p:nvPr/>
        </p:nvSpPr>
        <p:spPr>
          <a:xfrm>
            <a:off x="6217920" y="2514600"/>
            <a:ext cx="2331720" cy="1554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1300" noProof="1">
                <a:solidFill>
                  <a:srgbClr val="16324F"/>
                </a:solidFill>
                <a:latin typeface="Calibri"/>
                <a:ea typeface="Calibri"/>
              </a:rPr>
              <a:t>Higher ASR with 10× fewer poisons than Phase 1, but the comparison is not like-for-like and purification robustness is untested.</a:t>
            </a:r>
            <a:endParaRPr lang="en-US" sz="13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2600" b="1" noProof="1">
                <a:solidFill>
                  <a:srgbClr val="16324F"/>
                </a:solidFill>
                <a:latin typeface="Cambria"/>
                <a:ea typeface="Cambria"/>
              </a:rPr>
              <a:t>PGD baseline vs. prior diffusion work vs. ours</a:t>
            </a:r>
            <a:endParaRPr lang="en-US" sz="2600" noProof="1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l">
              <a:lnSpc>
                <a:spcPct val="120000"/>
              </a:lnSpc>
            </a:pPr>
            <a:r>
              <a:rPr lang="en-US" sz="900" noProof="1">
                <a:solidFill>
                  <a:srgbClr val="5A6472"/>
                </a:solidFill>
                <a:latin typeface="Calibri"/>
                <a:ea typeface="Calibri"/>
              </a:rPr>
              <a:t>Rajat Dulal · Clean-label poisoning via guided diffusion</a:t>
            </a:r>
            <a:endParaRPr lang="en-US" sz="900" noProof="1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r">
              <a:lnSpc>
                <a:spcPct val="120000"/>
              </a:lnSpc>
            </a:pPr>
            <a:r>
              <a:rPr lang="en-US" sz="900" noProof="1">
                <a:solidFill>
                  <a:srgbClr val="5A6472"/>
                </a:solidFill>
                <a:latin typeface="Calibri"/>
                <a:ea typeface="Calibri"/>
              </a:rPr>
              <a:t>5 / 16</a:t>
            </a:r>
            <a:endParaRPr lang="en-US" sz="900" noProof="1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7F8FA"/>
          </a:solidFill>
          <a:ln w="12700">
            <a:solidFill>
              <a:srgbClr val="F7F8F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94360" y="1143000"/>
            <a:ext cx="20116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l">
              <a:lnSpc>
                <a:spcPct val="120000"/>
              </a:lnSpc>
            </a:pPr>
            <a:r>
              <a:rPr lang="en-US" sz="1300" b="1" noProof="1">
                <a:solidFill>
                  <a:srgbClr val="5A6472"/>
                </a:solidFill>
                <a:latin typeface="Calibri"/>
                <a:ea typeface="Calibri"/>
              </a:rPr>
              <a:t>PGD feature collision</a:t>
            </a:r>
            <a:endParaRPr lang="en-US" sz="1600" noProof="1"/>
          </a:p>
          <a:p>
            <a:pPr marL="0" algn="l">
              <a:lnSpc>
                <a:spcPct val="120000"/>
              </a:lnSpc>
            </a:pPr>
            <a:r>
              <a:rPr lang="en-US" sz="1050" noProof="1">
                <a:solidFill>
                  <a:srgbClr val="5A6472"/>
                </a:solidFill>
                <a:latin typeface="Calibri"/>
                <a:ea typeface="Calibri"/>
              </a:rPr>
              <a:t>Poison Frogs, Phase 1 (this thesis)</a:t>
            </a:r>
            <a:endParaRPr lang="en-US" sz="1600" noProof="1"/>
          </a:p>
        </p:txBody>
      </p:sp>
      <p:sp>
        <p:nvSpPr>
          <p:cNvPr id="7" name="Shape 5"/>
          <p:cNvSpPr/>
          <p:nvPr/>
        </p:nvSpPr>
        <p:spPr>
          <a:xfrm>
            <a:off x="2743200" y="120650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A647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768600" y="1231900"/>
            <a:ext cx="164084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ctr">
              <a:lnSpc>
                <a:spcPct val="120000"/>
              </a:lnSpc>
            </a:pPr>
            <a:r>
              <a:rPr lang="en-US" sz="1000" noProof="1">
                <a:solidFill>
                  <a:srgbClr val="16324F"/>
                </a:solidFill>
                <a:latin typeface="Calibri"/>
                <a:ea typeface="Calibri"/>
              </a:rPr>
              <a:t>Clean base image</a:t>
            </a:r>
            <a:endParaRPr lang="en-US" sz="1000" noProof="1"/>
          </a:p>
        </p:txBody>
      </p:sp>
      <p:sp>
        <p:nvSpPr>
          <p:cNvPr id="9" name="Text 7"/>
          <p:cNvSpPr txBox="1"/>
          <p:nvPr/>
        </p:nvSpPr>
        <p:spPr>
          <a:xfrm>
            <a:off x="4434840" y="1206500"/>
            <a:ext cx="1828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ctr">
              <a:lnSpc>
                <a:spcPct val="120000"/>
              </a:lnSpc>
            </a:pPr>
            <a:r>
              <a:rPr lang="en-US" sz="1200" noProof="1">
                <a:solidFill>
                  <a:srgbClr val="5A6472"/>
                </a:solidFill>
                <a:latin typeface="Calibri"/>
                <a:ea typeface="Calibri"/>
              </a:rPr>
              <a:t>→</a:t>
            </a:r>
            <a:endParaRPr lang="en-US" sz="1200" noProof="1"/>
          </a:p>
        </p:txBody>
      </p:sp>
      <p:sp>
        <p:nvSpPr>
          <p:cNvPr id="10" name="Shape 8"/>
          <p:cNvSpPr/>
          <p:nvPr/>
        </p:nvSpPr>
        <p:spPr>
          <a:xfrm>
            <a:off x="4617720" y="120650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A647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643120" y="1231900"/>
            <a:ext cx="164084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ctr">
              <a:lnSpc>
                <a:spcPct val="120000"/>
              </a:lnSpc>
            </a:pPr>
            <a:r>
              <a:rPr lang="en-US" sz="1000" b="1" noProof="1">
                <a:solidFill>
                  <a:srgbClr val="16324F"/>
                </a:solidFill>
                <a:latin typeface="Calibri"/>
                <a:ea typeface="Calibri"/>
              </a:rPr>
              <a:t>PGD pixel optimisation</a:t>
            </a:r>
            <a:endParaRPr lang="en-US" sz="1000" noProof="1"/>
          </a:p>
        </p:txBody>
      </p:sp>
      <p:sp>
        <p:nvSpPr>
          <p:cNvPr id="12" name="Text 10"/>
          <p:cNvSpPr txBox="1"/>
          <p:nvPr/>
        </p:nvSpPr>
        <p:spPr>
          <a:xfrm>
            <a:off x="6309360" y="1206500"/>
            <a:ext cx="1828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ctr">
              <a:lnSpc>
                <a:spcPct val="120000"/>
              </a:lnSpc>
            </a:pPr>
            <a:r>
              <a:rPr lang="en-US" sz="1200" noProof="1">
                <a:solidFill>
                  <a:srgbClr val="5A6472"/>
                </a:solidFill>
                <a:latin typeface="Calibri"/>
                <a:ea typeface="Calibri"/>
              </a:rPr>
              <a:t>→</a:t>
            </a:r>
            <a:endParaRPr lang="en-US" sz="1200" noProof="1"/>
          </a:p>
        </p:txBody>
      </p:sp>
      <p:sp>
        <p:nvSpPr>
          <p:cNvPr id="13" name="Shape 11"/>
          <p:cNvSpPr/>
          <p:nvPr/>
        </p:nvSpPr>
        <p:spPr>
          <a:xfrm>
            <a:off x="6492240" y="120650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5A6472"/>
          </a:solidFill>
          <a:ln w="15875">
            <a:solidFill>
              <a:srgbClr val="5A647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6517640" y="1231900"/>
            <a:ext cx="164084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ctr">
              <a:lnSpc>
                <a:spcPct val="120000"/>
              </a:lnSpc>
            </a:pPr>
            <a:r>
              <a:rPr lang="en-US" sz="1000" noProof="1">
                <a:solidFill>
                  <a:srgbClr val="FFFFFF"/>
                </a:solidFill>
                <a:latin typeface="Calibri"/>
                <a:ea typeface="Calibri"/>
              </a:rPr>
              <a:t>Poison</a:t>
            </a:r>
            <a:endParaRPr lang="en-US" sz="1000" noProof="1"/>
          </a:p>
        </p:txBody>
      </p:sp>
      <p:sp>
        <p:nvSpPr>
          <p:cNvPr id="15" name="Text 13"/>
          <p:cNvSpPr txBox="1"/>
          <p:nvPr/>
        </p:nvSpPr>
        <p:spPr>
          <a:xfrm>
            <a:off x="2743200" y="1719580"/>
            <a:ext cx="5760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l">
              <a:lnSpc>
                <a:spcPct val="120000"/>
              </a:lnSpc>
            </a:pPr>
            <a:r>
              <a:rPr lang="en-US" sz="1050" i="1" noProof="1">
                <a:solidFill>
                  <a:srgbClr val="5A6472"/>
                </a:solidFill>
                <a:latin typeface="Calibri"/>
                <a:ea typeface="Calibri"/>
              </a:rPr>
              <a:t>Bounded ℓ∞ pixel perturbation bolted onto a real image</a:t>
            </a:r>
            <a:endParaRPr lang="en-US" sz="1050" noProof="1"/>
          </a:p>
        </p:txBody>
      </p:sp>
      <p:sp>
        <p:nvSpPr>
          <p:cNvPr id="16" name="Shape 14"/>
          <p:cNvSpPr/>
          <p:nvPr/>
        </p:nvSpPr>
        <p:spPr>
          <a:xfrm>
            <a:off x="457200" y="219456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7F8FA"/>
          </a:solidFill>
          <a:ln w="12700">
            <a:solidFill>
              <a:srgbClr val="F7F8F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94360" y="2240280"/>
            <a:ext cx="20116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l">
              <a:lnSpc>
                <a:spcPct val="120000"/>
              </a:lnSpc>
            </a:pPr>
            <a:r>
              <a:rPr lang="en-US" sz="1300" b="1" noProof="1">
                <a:solidFill>
                  <a:srgbClr val="9A7418"/>
                </a:solidFill>
                <a:latin typeface="Calibri"/>
                <a:ea typeface="Calibri"/>
              </a:rPr>
              <a:t>Diffusion, two-stage</a:t>
            </a:r>
            <a:endParaRPr lang="en-US" sz="1600" noProof="1"/>
          </a:p>
          <a:p>
            <a:pPr marL="0" algn="l">
              <a:lnSpc>
                <a:spcPct val="120000"/>
              </a:lnSpc>
            </a:pPr>
            <a:r>
              <a:rPr lang="en-US" sz="1050" noProof="1">
                <a:solidFill>
                  <a:srgbClr val="5A6472"/>
                </a:solidFill>
                <a:latin typeface="Calibri"/>
                <a:ea typeface="Calibri"/>
              </a:rPr>
              <a:t>Souri et al. 2024</a:t>
            </a:r>
            <a:endParaRPr lang="en-US" sz="1600" noProof="1"/>
          </a:p>
        </p:txBody>
      </p:sp>
      <p:sp>
        <p:nvSpPr>
          <p:cNvPr id="18" name="Shape 16"/>
          <p:cNvSpPr/>
          <p:nvPr/>
        </p:nvSpPr>
        <p:spPr>
          <a:xfrm>
            <a:off x="2743200" y="230378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9A741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2768600" y="2329180"/>
            <a:ext cx="164084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ctr">
              <a:lnSpc>
                <a:spcPct val="120000"/>
              </a:lnSpc>
            </a:pPr>
            <a:r>
              <a:rPr lang="en-US" sz="1000" noProof="1">
                <a:solidFill>
                  <a:srgbClr val="16324F"/>
                </a:solidFill>
                <a:latin typeface="Calibri"/>
                <a:ea typeface="Calibri"/>
              </a:rPr>
              <a:t>Guided diffusion makes base image</a:t>
            </a:r>
            <a:endParaRPr lang="en-US" sz="1000" noProof="1"/>
          </a:p>
        </p:txBody>
      </p:sp>
      <p:sp>
        <p:nvSpPr>
          <p:cNvPr id="20" name="Text 18"/>
          <p:cNvSpPr txBox="1"/>
          <p:nvPr/>
        </p:nvSpPr>
        <p:spPr>
          <a:xfrm>
            <a:off x="4434840" y="2303780"/>
            <a:ext cx="1828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ctr">
              <a:lnSpc>
                <a:spcPct val="120000"/>
              </a:lnSpc>
            </a:pPr>
            <a:r>
              <a:rPr lang="en-US" sz="1200" noProof="1">
                <a:solidFill>
                  <a:srgbClr val="9A7418"/>
                </a:solidFill>
                <a:latin typeface="Calibri"/>
                <a:ea typeface="Calibri"/>
              </a:rPr>
              <a:t>→</a:t>
            </a:r>
            <a:endParaRPr lang="en-US" sz="1200" noProof="1"/>
          </a:p>
        </p:txBody>
      </p:sp>
      <p:sp>
        <p:nvSpPr>
          <p:cNvPr id="21" name="Shape 19"/>
          <p:cNvSpPr/>
          <p:nvPr/>
        </p:nvSpPr>
        <p:spPr>
          <a:xfrm>
            <a:off x="4617720" y="230378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9A741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4643120" y="2329180"/>
            <a:ext cx="164084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ctr">
              <a:lnSpc>
                <a:spcPct val="120000"/>
              </a:lnSpc>
            </a:pPr>
            <a:r>
              <a:rPr lang="en-US" sz="1000" b="1" noProof="1">
                <a:solidFill>
                  <a:srgbClr val="16324F"/>
                </a:solidFill>
                <a:latin typeface="Calibri"/>
                <a:ea typeface="Calibri"/>
              </a:rPr>
              <a:t>Gradient matching (Witches' Brew)</a:t>
            </a:r>
            <a:endParaRPr lang="en-US" sz="1000" noProof="1"/>
          </a:p>
        </p:txBody>
      </p:sp>
      <p:sp>
        <p:nvSpPr>
          <p:cNvPr id="23" name="Text 21"/>
          <p:cNvSpPr txBox="1"/>
          <p:nvPr/>
        </p:nvSpPr>
        <p:spPr>
          <a:xfrm>
            <a:off x="6309360" y="2303780"/>
            <a:ext cx="1828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ctr">
              <a:lnSpc>
                <a:spcPct val="120000"/>
              </a:lnSpc>
            </a:pPr>
            <a:r>
              <a:rPr lang="en-US" sz="1200" noProof="1">
                <a:solidFill>
                  <a:srgbClr val="9A7418"/>
                </a:solidFill>
                <a:latin typeface="Calibri"/>
                <a:ea typeface="Calibri"/>
              </a:rPr>
              <a:t>→</a:t>
            </a:r>
            <a:endParaRPr lang="en-US" sz="1200" noProof="1"/>
          </a:p>
        </p:txBody>
      </p:sp>
      <p:sp>
        <p:nvSpPr>
          <p:cNvPr id="24" name="Shape 22"/>
          <p:cNvSpPr/>
          <p:nvPr/>
        </p:nvSpPr>
        <p:spPr>
          <a:xfrm>
            <a:off x="6492240" y="230378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9A7418"/>
          </a:solidFill>
          <a:ln w="15875">
            <a:solidFill>
              <a:srgbClr val="9A741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6517640" y="2329180"/>
            <a:ext cx="164084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ctr">
              <a:lnSpc>
                <a:spcPct val="120000"/>
              </a:lnSpc>
            </a:pPr>
            <a:r>
              <a:rPr lang="en-US" sz="1000" noProof="1">
                <a:solidFill>
                  <a:srgbClr val="FFFFFF"/>
                </a:solidFill>
                <a:latin typeface="Calibri"/>
                <a:ea typeface="Calibri"/>
              </a:rPr>
              <a:t>Poison</a:t>
            </a:r>
            <a:endParaRPr lang="en-US" sz="1000" noProof="1"/>
          </a:p>
        </p:txBody>
      </p:sp>
      <p:sp>
        <p:nvSpPr>
          <p:cNvPr id="26" name="Text 24"/>
          <p:cNvSpPr txBox="1"/>
          <p:nvPr/>
        </p:nvSpPr>
        <p:spPr>
          <a:xfrm>
            <a:off x="2743200" y="2816860"/>
            <a:ext cx="5760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l">
              <a:lnSpc>
                <a:spcPct val="120000"/>
              </a:lnSpc>
            </a:pPr>
            <a:r>
              <a:rPr lang="en-US" sz="1050" i="1" noProof="1">
                <a:solidFill>
                  <a:srgbClr val="5A6472"/>
                </a:solidFill>
                <a:latin typeface="Calibri"/>
                <a:ea typeface="Calibri"/>
              </a:rPr>
              <a:t>Diffusion improves the starting point; it does not do the collision</a:t>
            </a:r>
            <a:endParaRPr lang="en-US" sz="1050" noProof="1"/>
          </a:p>
        </p:txBody>
      </p:sp>
      <p:sp>
        <p:nvSpPr>
          <p:cNvPr id="27" name="Shape 25"/>
          <p:cNvSpPr/>
          <p:nvPr/>
        </p:nvSpPr>
        <p:spPr>
          <a:xfrm>
            <a:off x="457200" y="329184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0F4F8"/>
          </a:solidFill>
          <a:ln w="12700">
            <a:solidFill>
              <a:srgbClr val="F0F4F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594360" y="3337560"/>
            <a:ext cx="2011680" cy="8686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l">
              <a:lnSpc>
                <a:spcPct val="120000"/>
              </a:lnSpc>
            </a:pPr>
            <a:r>
              <a:rPr lang="en-US" sz="1300" b="1" noProof="1">
                <a:solidFill>
                  <a:srgbClr val="1F4E79"/>
                </a:solidFill>
                <a:latin typeface="Calibri"/>
                <a:ea typeface="Calibri"/>
              </a:rPr>
              <a:t>Diffusion, single-stage</a:t>
            </a:r>
            <a:endParaRPr lang="en-US" sz="1600" noProof="1"/>
          </a:p>
          <a:p>
            <a:pPr marL="0" algn="l">
              <a:lnSpc>
                <a:spcPct val="120000"/>
              </a:lnSpc>
            </a:pPr>
            <a:r>
              <a:rPr lang="en-US" sz="1050" noProof="1">
                <a:solidFill>
                  <a:srgbClr val="5A6472"/>
                </a:solidFill>
                <a:latin typeface="Calibri"/>
                <a:ea typeface="Calibri"/>
              </a:rPr>
              <a:t>This thesis (Phase 2)</a:t>
            </a:r>
            <a:endParaRPr lang="en-US" sz="1600" noProof="1"/>
          </a:p>
        </p:txBody>
      </p:sp>
      <p:sp>
        <p:nvSpPr>
          <p:cNvPr id="29" name="Shape 27"/>
          <p:cNvSpPr/>
          <p:nvPr/>
        </p:nvSpPr>
        <p:spPr>
          <a:xfrm>
            <a:off x="2743200" y="340106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F4E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2768600" y="3426460"/>
            <a:ext cx="164084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ctr">
              <a:lnSpc>
                <a:spcPct val="120000"/>
              </a:lnSpc>
            </a:pPr>
            <a:r>
              <a:rPr lang="en-US" sz="1000" noProof="1">
                <a:solidFill>
                  <a:srgbClr val="16324F"/>
                </a:solidFill>
                <a:latin typeface="Calibri"/>
                <a:ea typeface="Calibri"/>
              </a:rPr>
              <a:t>Partial forward diffusion (SDEdit)</a:t>
            </a:r>
            <a:endParaRPr lang="en-US" sz="1000" noProof="1"/>
          </a:p>
        </p:txBody>
      </p:sp>
      <p:sp>
        <p:nvSpPr>
          <p:cNvPr id="31" name="Text 29"/>
          <p:cNvSpPr txBox="1"/>
          <p:nvPr/>
        </p:nvSpPr>
        <p:spPr>
          <a:xfrm>
            <a:off x="4434840" y="3401060"/>
            <a:ext cx="1828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ctr">
              <a:lnSpc>
                <a:spcPct val="120000"/>
              </a:lnSpc>
            </a:pPr>
            <a:r>
              <a:rPr lang="en-US" sz="1200" noProof="1">
                <a:solidFill>
                  <a:srgbClr val="1F4E79"/>
                </a:solidFill>
                <a:latin typeface="Calibri"/>
                <a:ea typeface="Calibri"/>
              </a:rPr>
              <a:t>→</a:t>
            </a:r>
            <a:endParaRPr lang="en-US" sz="1200" noProof="1"/>
          </a:p>
        </p:txBody>
      </p:sp>
      <p:sp>
        <p:nvSpPr>
          <p:cNvPr id="32" name="Shape 30"/>
          <p:cNvSpPr/>
          <p:nvPr/>
        </p:nvSpPr>
        <p:spPr>
          <a:xfrm>
            <a:off x="4617720" y="340106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F4E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4643120" y="3426460"/>
            <a:ext cx="164084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ctr">
              <a:lnSpc>
                <a:spcPct val="120000"/>
              </a:lnSpc>
            </a:pPr>
            <a:r>
              <a:rPr lang="en-US" sz="1000" b="1" noProof="1">
                <a:solidFill>
                  <a:srgbClr val="16324F"/>
                </a:solidFill>
                <a:latin typeface="Calibri"/>
                <a:ea typeface="Calibri"/>
              </a:rPr>
              <a:t>Reverse steps guided by collision loss</a:t>
            </a:r>
            <a:endParaRPr lang="en-US" sz="1000" noProof="1"/>
          </a:p>
        </p:txBody>
      </p:sp>
      <p:sp>
        <p:nvSpPr>
          <p:cNvPr id="34" name="Text 32"/>
          <p:cNvSpPr txBox="1"/>
          <p:nvPr/>
        </p:nvSpPr>
        <p:spPr>
          <a:xfrm>
            <a:off x="6309360" y="3401060"/>
            <a:ext cx="1828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ctr">
              <a:lnSpc>
                <a:spcPct val="120000"/>
              </a:lnSpc>
            </a:pPr>
            <a:r>
              <a:rPr lang="en-US" sz="1200" noProof="1">
                <a:solidFill>
                  <a:srgbClr val="1F4E79"/>
                </a:solidFill>
                <a:latin typeface="Calibri"/>
                <a:ea typeface="Calibri"/>
              </a:rPr>
              <a:t>→</a:t>
            </a:r>
            <a:endParaRPr lang="en-US" sz="1200" noProof="1"/>
          </a:p>
        </p:txBody>
      </p:sp>
      <p:sp>
        <p:nvSpPr>
          <p:cNvPr id="35" name="Shape 33"/>
          <p:cNvSpPr/>
          <p:nvPr/>
        </p:nvSpPr>
        <p:spPr>
          <a:xfrm>
            <a:off x="6492240" y="3401060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1F4E79"/>
          </a:solidFill>
          <a:ln w="15875">
            <a:solidFill>
              <a:srgbClr val="1F4E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6517640" y="3426460"/>
            <a:ext cx="164084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ctr">
              <a:lnSpc>
                <a:spcPct val="120000"/>
              </a:lnSpc>
            </a:pPr>
            <a:r>
              <a:rPr lang="en-US" sz="1000" noProof="1">
                <a:solidFill>
                  <a:srgbClr val="FFFFFF"/>
                </a:solidFill>
                <a:latin typeface="Calibri"/>
                <a:ea typeface="Calibri"/>
              </a:rPr>
              <a:t>Poison</a:t>
            </a:r>
            <a:endParaRPr lang="en-US" sz="1000" noProof="1"/>
          </a:p>
        </p:txBody>
      </p:sp>
      <p:sp>
        <p:nvSpPr>
          <p:cNvPr id="37" name="Text 35"/>
          <p:cNvSpPr txBox="1"/>
          <p:nvPr/>
        </p:nvSpPr>
        <p:spPr>
          <a:xfrm>
            <a:off x="2743200" y="3914140"/>
            <a:ext cx="5760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l">
              <a:lnSpc>
                <a:spcPct val="120000"/>
              </a:lnSpc>
            </a:pPr>
            <a:r>
              <a:rPr lang="en-US" sz="1050" i="1" noProof="1">
                <a:solidFill>
                  <a:srgbClr val="5A6472"/>
                </a:solidFill>
                <a:latin typeface="Calibri"/>
                <a:ea typeface="Calibri"/>
              </a:rPr>
              <a:t>Attack objective lives inside the denoising trajectory</a:t>
            </a:r>
            <a:endParaRPr lang="en-US" sz="1050" noProof="1"/>
          </a:p>
        </p:txBody>
      </p:sp>
      <p:sp>
        <p:nvSpPr>
          <p:cNvPr id="38" name="Text 36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l">
              <a:lnSpc>
                <a:spcPct val="120000"/>
              </a:lnSpc>
            </a:pPr>
            <a:r>
              <a:rPr lang="en-US" sz="1000" noProof="1">
                <a:solidFill>
                  <a:srgbClr val="5A6472"/>
                </a:solidFill>
                <a:latin typeface="Calibri"/>
                <a:ea typeface="Calibri"/>
              </a:rPr>
              <a:t>Adjacent, not the same: DiffPure/ECLIPSE are defences; CBV targets vision-language models; Pan et al. poison the diffusion model itself.</a:t>
            </a:r>
            <a:endParaRPr lang="en-US" sz="10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2600" b="1" noProof="1">
                <a:solidFill>
                  <a:srgbClr val="16324F"/>
                </a:solidFill>
                <a:latin typeface="Cambria"/>
                <a:ea typeface="Cambria"/>
              </a:rPr>
              <a:t>Phase 1 baseline: stealthy but weak</a:t>
            </a:r>
            <a:endParaRPr lang="en-US" sz="2600" noProof="1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l">
              <a:lnSpc>
                <a:spcPct val="120000"/>
              </a:lnSpc>
            </a:pPr>
            <a:r>
              <a:rPr lang="en-US" sz="900" noProof="1">
                <a:solidFill>
                  <a:srgbClr val="5A6472"/>
                </a:solidFill>
                <a:latin typeface="Calibri"/>
                <a:ea typeface="Calibri"/>
              </a:rPr>
              <a:t>Rajat Dulal · Clean-label poisoning via guided diffusion</a:t>
            </a:r>
            <a:endParaRPr lang="en-US" sz="900" noProof="1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r">
              <a:lnSpc>
                <a:spcPct val="120000"/>
              </a:lnSpc>
            </a:pPr>
            <a:r>
              <a:rPr lang="en-US" sz="900" noProof="1">
                <a:solidFill>
                  <a:srgbClr val="5A6472"/>
                </a:solidFill>
                <a:latin typeface="Calibri"/>
                <a:ea typeface="Calibri"/>
              </a:rPr>
              <a:t>6 / 16</a:t>
            </a:r>
            <a:endParaRPr lang="en-US" sz="900" noProof="1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938020" cy="1051560"/>
          </a:xfrm>
          <a:prstGeom prst="roundRect">
            <a:avLst>
              <a:gd name="adj" fmla="val 6957"/>
            </a:avLst>
          </a:prstGeom>
          <a:solidFill>
            <a:srgbClr val="F0F4F8"/>
          </a:solidFill>
          <a:ln w="12700">
            <a:solidFill>
              <a:srgbClr val="F0F4F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457200" y="1160780"/>
            <a:ext cx="19380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ctr">
              <a:lnSpc>
                <a:spcPct val="120000"/>
              </a:lnSpc>
            </a:pPr>
            <a:r>
              <a:rPr lang="en-US" sz="2600" b="1" noProof="1">
                <a:solidFill>
                  <a:srgbClr val="1F4E79"/>
                </a:solidFill>
                <a:latin typeface="Cambria"/>
                <a:ea typeface="Cambria"/>
              </a:rPr>
              <a:t>80.37%</a:t>
            </a:r>
            <a:endParaRPr lang="en-US" sz="2600" noProof="1"/>
          </a:p>
        </p:txBody>
      </p:sp>
      <p:sp>
        <p:nvSpPr>
          <p:cNvPr id="7" name="Text 5"/>
          <p:cNvSpPr txBox="1"/>
          <p:nvPr/>
        </p:nvSpPr>
        <p:spPr>
          <a:xfrm>
            <a:off x="457200" y="1709420"/>
            <a:ext cx="19380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ctr">
              <a:lnSpc>
                <a:spcPct val="120000"/>
              </a:lnSpc>
            </a:pPr>
            <a:r>
              <a:rPr lang="en-US" sz="1100" noProof="1">
                <a:solidFill>
                  <a:srgbClr val="5A6472"/>
                </a:solidFill>
                <a:latin typeface="Calibri"/>
                <a:ea typeface="Calibri"/>
              </a:rPr>
              <a:t>Clean accuracy</a:t>
            </a:r>
            <a:endParaRPr lang="en-US" sz="1100" noProof="1"/>
          </a:p>
        </p:txBody>
      </p:sp>
      <p:sp>
        <p:nvSpPr>
          <p:cNvPr id="8" name="Shape 6"/>
          <p:cNvSpPr/>
          <p:nvPr/>
        </p:nvSpPr>
        <p:spPr>
          <a:xfrm>
            <a:off x="2551430" y="1097280"/>
            <a:ext cx="1938020" cy="1051560"/>
          </a:xfrm>
          <a:prstGeom prst="roundRect">
            <a:avLst>
              <a:gd name="adj" fmla="val 6957"/>
            </a:avLst>
          </a:prstGeom>
          <a:solidFill>
            <a:srgbClr val="F0F4F8"/>
          </a:solidFill>
          <a:ln w="12700">
            <a:solidFill>
              <a:srgbClr val="F0F4F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2551430" y="1160780"/>
            <a:ext cx="19380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ctr">
              <a:lnSpc>
                <a:spcPct val="120000"/>
              </a:lnSpc>
            </a:pPr>
            <a:r>
              <a:rPr lang="en-US" sz="2600" b="1" noProof="1">
                <a:solidFill>
                  <a:srgbClr val="B04A4A"/>
                </a:solidFill>
                <a:latin typeface="Cambria"/>
                <a:ea typeface="Cambria"/>
              </a:rPr>
              <a:t>14.50%</a:t>
            </a:r>
            <a:endParaRPr lang="en-US" sz="2600" noProof="1"/>
          </a:p>
        </p:txBody>
      </p:sp>
      <p:sp>
        <p:nvSpPr>
          <p:cNvPr id="10" name="Text 8"/>
          <p:cNvSpPr txBox="1"/>
          <p:nvPr/>
        </p:nvSpPr>
        <p:spPr>
          <a:xfrm>
            <a:off x="2551430" y="1709420"/>
            <a:ext cx="19380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ctr">
              <a:lnSpc>
                <a:spcPct val="120000"/>
              </a:lnSpc>
            </a:pPr>
            <a:r>
              <a:rPr lang="en-US" sz="1100" noProof="1">
                <a:solidFill>
                  <a:srgbClr val="5A6472"/>
                </a:solidFill>
                <a:latin typeface="Calibri"/>
                <a:ea typeface="Calibri"/>
              </a:rPr>
              <a:t>Attack success</a:t>
            </a:r>
            <a:endParaRPr lang="en-US" sz="1100" noProof="1"/>
          </a:p>
        </p:txBody>
      </p:sp>
      <p:sp>
        <p:nvSpPr>
          <p:cNvPr id="11" name="Shape 9"/>
          <p:cNvSpPr/>
          <p:nvPr/>
        </p:nvSpPr>
        <p:spPr>
          <a:xfrm>
            <a:off x="4645660" y="1097280"/>
            <a:ext cx="1938020" cy="1051560"/>
          </a:xfrm>
          <a:prstGeom prst="roundRect">
            <a:avLst>
              <a:gd name="adj" fmla="val 6957"/>
            </a:avLst>
          </a:prstGeom>
          <a:solidFill>
            <a:srgbClr val="F0F4F8"/>
          </a:solidFill>
          <a:ln w="12700">
            <a:solidFill>
              <a:srgbClr val="F0F4F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645660" y="1160780"/>
            <a:ext cx="19380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ctr">
              <a:lnSpc>
                <a:spcPct val="120000"/>
              </a:lnSpc>
            </a:pPr>
            <a:r>
              <a:rPr lang="en-US" sz="2600" b="1" noProof="1">
                <a:solidFill>
                  <a:srgbClr val="1F4E79"/>
                </a:solidFill>
                <a:latin typeface="Cambria"/>
                <a:ea typeface="Cambria"/>
              </a:rPr>
              <a:t>0.9993</a:t>
            </a:r>
            <a:endParaRPr lang="en-US" sz="2600" noProof="1"/>
          </a:p>
        </p:txBody>
      </p:sp>
      <p:sp>
        <p:nvSpPr>
          <p:cNvPr id="13" name="Text 11"/>
          <p:cNvSpPr txBox="1"/>
          <p:nvPr/>
        </p:nvSpPr>
        <p:spPr>
          <a:xfrm>
            <a:off x="4645660" y="1709420"/>
            <a:ext cx="19380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ctr">
              <a:lnSpc>
                <a:spcPct val="120000"/>
              </a:lnSpc>
            </a:pPr>
            <a:r>
              <a:rPr lang="en-US" sz="1100" noProof="1">
                <a:solidFill>
                  <a:srgbClr val="5A6472"/>
                </a:solidFill>
                <a:latin typeface="Calibri"/>
                <a:ea typeface="Calibri"/>
              </a:rPr>
              <a:t>Mean SSIM</a:t>
            </a:r>
            <a:endParaRPr lang="en-US" sz="1100" noProof="1"/>
          </a:p>
        </p:txBody>
      </p:sp>
      <p:sp>
        <p:nvSpPr>
          <p:cNvPr id="14" name="Shape 12"/>
          <p:cNvSpPr/>
          <p:nvPr/>
        </p:nvSpPr>
        <p:spPr>
          <a:xfrm>
            <a:off x="6738620" y="1097280"/>
            <a:ext cx="1938020" cy="1051560"/>
          </a:xfrm>
          <a:prstGeom prst="roundRect">
            <a:avLst>
              <a:gd name="adj" fmla="val 6957"/>
            </a:avLst>
          </a:prstGeom>
          <a:solidFill>
            <a:srgbClr val="F0F4F8"/>
          </a:solidFill>
          <a:ln w="12700">
            <a:solidFill>
              <a:srgbClr val="F0F4F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738620" y="1160780"/>
            <a:ext cx="193802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ctr">
              <a:lnSpc>
                <a:spcPct val="120000"/>
              </a:lnSpc>
            </a:pPr>
            <a:r>
              <a:rPr lang="en-US" sz="2600" b="1" noProof="1">
                <a:solidFill>
                  <a:srgbClr val="1F4E79"/>
                </a:solidFill>
                <a:latin typeface="Cambria"/>
                <a:ea typeface="Cambria"/>
              </a:rPr>
              <a:t>0 / 250</a:t>
            </a:r>
            <a:endParaRPr lang="en-US" sz="2600" noProof="1"/>
          </a:p>
        </p:txBody>
      </p:sp>
      <p:sp>
        <p:nvSpPr>
          <p:cNvPr id="16" name="Text 14"/>
          <p:cNvSpPr txBox="1"/>
          <p:nvPr/>
        </p:nvSpPr>
        <p:spPr>
          <a:xfrm>
            <a:off x="6738620" y="1709420"/>
            <a:ext cx="19380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ctr">
              <a:lnSpc>
                <a:spcPct val="120000"/>
              </a:lnSpc>
            </a:pPr>
            <a:r>
              <a:rPr lang="en-US" sz="1100" noProof="1">
                <a:solidFill>
                  <a:srgbClr val="5A6472"/>
                </a:solidFill>
                <a:latin typeface="Calibri"/>
                <a:ea typeface="Calibri"/>
              </a:rPr>
              <a:t>ℓ∞ violations</a:t>
            </a:r>
            <a:endParaRPr lang="en-US" sz="1100" noProof="1"/>
          </a:p>
        </p:txBody>
      </p:sp>
      <p:sp>
        <p:nvSpPr>
          <p:cNvPr id="17" name="Text 15"/>
          <p:cNvSpPr txBox="1"/>
          <p:nvPr/>
        </p:nvSpPr>
        <p:spPr>
          <a:xfrm>
            <a:off x="457200" y="2423160"/>
            <a:ext cx="4937760" cy="2194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1300" b="1" noProof="1">
                <a:solidFill>
                  <a:srgbClr val="1F4E79"/>
                </a:solidFill>
                <a:latin typeface="Calibri"/>
                <a:ea typeface="Calibri"/>
              </a:rPr>
              <a:t>Method</a:t>
            </a:r>
            <a:endParaRPr lang="en-US" sz="1300" noProof="1"/>
          </a:p>
          <a:p>
            <a:pPr marL="0" algn="l">
              <a:lnSpc>
                <a:spcPct val="120000"/>
              </a:lnSpc>
            </a:pPr>
            <a:r>
              <a:rPr lang="en-US" sz="1300" noProof="1">
                <a:solidFill>
                  <a:srgbClr val="16324F"/>
                </a:solidFill>
                <a:latin typeface="Calibri"/>
                <a:ea typeface="Calibri"/>
              </a:rPr>
              <a:t>Surrogate on target-class images → class prototype → interpolate base latent toward it (λ = 0.35) → invert to pixels with PGD (ε = 8/255). Labels stay correct.</a:t>
            </a:r>
            <a:endParaRPr lang="en-US" sz="1300" noProof="1"/>
          </a:p>
          <a:p>
            <a:pPr marL="0" algn="l">
              <a:lnSpc>
                <a:spcPct val="120000"/>
              </a:lnSpc>
            </a:pPr>
            <a:r>
              <a:rPr lang="en-US" sz="600" noProof="1">
                <a:solidFill>
                  <a:srgbClr val="16324F"/>
                </a:solidFill>
                <a:latin typeface="Calibri"/>
                <a:ea typeface="Calibri"/>
              </a:rPr>
              <a:t> </a:t>
            </a:r>
            <a:endParaRPr lang="en-US" sz="1300" noProof="1"/>
          </a:p>
          <a:p>
            <a:pPr marL="0" algn="l">
              <a:lnSpc>
                <a:spcPct val="120000"/>
              </a:lnSpc>
            </a:pPr>
            <a:r>
              <a:rPr lang="en-US" sz="1300" b="1" noProof="1">
                <a:solidFill>
                  <a:srgbClr val="1F4E79"/>
                </a:solidFill>
                <a:latin typeface="Calibri"/>
                <a:ea typeface="Calibri"/>
              </a:rPr>
              <a:t>Why it motivates Phase 2</a:t>
            </a:r>
            <a:endParaRPr lang="en-US" sz="1300" noProof="1"/>
          </a:p>
          <a:p>
            <a:pPr marL="0" algn="l">
              <a:lnSpc>
                <a:spcPct val="120000"/>
              </a:lnSpc>
            </a:pPr>
            <a:r>
              <a:rPr lang="en-US" sz="1300" noProof="1">
                <a:solidFill>
                  <a:srgbClr val="16324F"/>
                </a:solidFill>
                <a:latin typeface="Calibri"/>
                <a:ea typeface="Calibri"/>
              </a:rPr>
              <a:t>Near-perfect stealth, but the conservative shift (λ, ε, 250 poisons, ResNet-18 victim) barely moves the decision boundary. ASR sits far below Poison Frogs and Narcissus.</a:t>
            </a:r>
            <a:endParaRPr lang="en-US" sz="1300" noProof="1"/>
          </a:p>
        </p:txBody>
      </p:sp>
      <p:sp>
        <p:nvSpPr>
          <p:cNvPr id="18" name="Shape 16"/>
          <p:cNvSpPr/>
          <p:nvPr/>
        </p:nvSpPr>
        <p:spPr>
          <a:xfrm>
            <a:off x="5669280" y="2423160"/>
            <a:ext cx="3017520" cy="2103120"/>
          </a:xfrm>
          <a:prstGeom prst="roundRect">
            <a:avLst>
              <a:gd name="adj" fmla="val 3478"/>
            </a:avLst>
          </a:prstGeom>
          <a:solidFill>
            <a:srgbClr val="FAF4E6"/>
          </a:solidFill>
          <a:ln w="12700">
            <a:solidFill>
              <a:srgbClr val="FAF4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806440" y="2514600"/>
            <a:ext cx="2743200" cy="1920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1200" b="1" noProof="1">
                <a:solidFill>
                  <a:srgbClr val="16324F"/>
                </a:solidFill>
                <a:latin typeface="Calibri"/>
                <a:ea typeface="Calibri"/>
              </a:rPr>
              <a:t>Reading the numbers</a:t>
            </a:r>
            <a:endParaRPr lang="en-US" sz="1200" noProof="1"/>
          </a:p>
          <a:p>
            <a:pPr marL="0" algn="l">
              <a:lnSpc>
                <a:spcPct val="120000"/>
              </a:lnSpc>
            </a:pPr>
            <a:r>
              <a:rPr lang="en-US" sz="1200" noProof="1">
                <a:solidFill>
                  <a:srgbClr val="16324F"/>
                </a:solidFill>
                <a:latin typeface="Calibri"/>
                <a:ea typeface="Calibri"/>
              </a:rPr>
              <a:t>Phase 1 used 250 poisons (5% of the base class, 0.5% of the training set), a ResNet-18 victim and a different class pair. It is the PGD reference point, not a controlled control arm.</a:t>
            </a:r>
            <a:endParaRPr lang="en-US" sz="1200" noProof="1"/>
          </a:p>
        </p:txBody>
      </p:sp>
      <p:sp>
        <p:nvSpPr>
          <p:cNvPr id="20" name="Shape 18"/>
          <p:cNvSpPr/>
          <p:nvPr/>
        </p:nvSpPr>
        <p:spPr>
          <a:xfrm>
            <a:off x="7680960" y="109220"/>
            <a:ext cx="1005840" cy="256540"/>
          </a:xfrm>
          <a:prstGeom prst="roundRect">
            <a:avLst>
              <a:gd name="adj" fmla="val 50000"/>
            </a:avLst>
          </a:prstGeom>
          <a:solidFill>
            <a:srgbClr val="2F7D57"/>
          </a:solidFill>
          <a:ln w="12700">
            <a:solidFill>
              <a:srgbClr val="2F7D5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7680960" y="109220"/>
            <a:ext cx="1005840" cy="2565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ctr">
              <a:lnSpc>
                <a:spcPct val="120000"/>
              </a:lnSpc>
            </a:pPr>
            <a:r>
              <a:rPr lang="en-US" sz="1000" b="1" noProof="1">
                <a:solidFill>
                  <a:srgbClr val="FFFFFF"/>
                </a:solidFill>
                <a:latin typeface="Calibri"/>
                <a:ea typeface="Calibri"/>
              </a:rPr>
              <a:t>Completed</a:t>
            </a:r>
            <a:endParaRPr lang="en-US" sz="10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2600" b="1" noProof="1">
                <a:solidFill>
                  <a:srgbClr val="16324F"/>
                </a:solidFill>
                <a:latin typeface="Cambria"/>
                <a:ea typeface="Cambria"/>
              </a:rPr>
              <a:t>Method overview: guided reverse diffusion pipeline</a:t>
            </a:r>
            <a:endParaRPr lang="en-US" sz="2600" noProof="1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l">
              <a:lnSpc>
                <a:spcPct val="120000"/>
              </a:lnSpc>
            </a:pPr>
            <a:r>
              <a:rPr lang="en-US" sz="900" noProof="1">
                <a:solidFill>
                  <a:srgbClr val="5A6472"/>
                </a:solidFill>
                <a:latin typeface="Calibri"/>
                <a:ea typeface="Calibri"/>
              </a:rPr>
              <a:t>Rajat Dulal · Clean-label poisoning via guided diffusion</a:t>
            </a:r>
            <a:endParaRPr lang="en-US" sz="900" noProof="1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r">
              <a:lnSpc>
                <a:spcPct val="120000"/>
              </a:lnSpc>
            </a:pPr>
            <a:r>
              <a:rPr lang="en-US" sz="900" noProof="1">
                <a:solidFill>
                  <a:srgbClr val="5A6472"/>
                </a:solidFill>
                <a:latin typeface="Calibri"/>
                <a:ea typeface="Calibri"/>
              </a:rPr>
              <a:t>7 / 16</a:t>
            </a:r>
            <a:endParaRPr lang="en-US" sz="900" noProof="1"/>
          </a:p>
        </p:txBody>
      </p:sp>
      <p:pic>
        <p:nvPicPr>
          <p:cNvPr id="5" name="Image 0"/>
          <p:cNvPicPr/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3931920" cy="3483610"/>
          </a:xfrm>
          <a:prstGeom prst="rect">
            <a:avLst/>
          </a:prstGeom>
          <a:ln>
            <a:noFill/>
          </a:ln>
        </p:spPr>
      </p:pic>
      <p:sp>
        <p:nvSpPr>
          <p:cNvPr id="6" name="Text 3"/>
          <p:cNvSpPr txBox="1"/>
          <p:nvPr/>
        </p:nvSpPr>
        <p:spPr>
          <a:xfrm>
            <a:off x="457200" y="4508500"/>
            <a:ext cx="3931920" cy="2006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l">
              <a:lnSpc>
                <a:spcPct val="120000"/>
              </a:lnSpc>
            </a:pPr>
            <a:r>
              <a:rPr lang="en-US" sz="900" i="1" noProof="1">
                <a:solidFill>
                  <a:srgbClr val="5A6472"/>
                </a:solidFill>
                <a:latin typeface="Calibri"/>
                <a:ea typeface="Calibri"/>
              </a:rPr>
              <a:t>Thesis Figure 3.2</a:t>
            </a:r>
            <a:endParaRPr lang="en-US" sz="900" noProof="1"/>
          </a:p>
        </p:txBody>
      </p:sp>
      <p:sp>
        <p:nvSpPr>
          <p:cNvPr id="7" name="Shape 4"/>
          <p:cNvSpPr/>
          <p:nvPr/>
        </p:nvSpPr>
        <p:spPr>
          <a:xfrm>
            <a:off x="4663440" y="105156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0F4F8"/>
          </a:solidFill>
          <a:ln w="12700">
            <a:solidFill>
              <a:srgbClr val="F0F4F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4800600" y="1106170"/>
            <a:ext cx="374904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1250" b="1" noProof="1">
                <a:solidFill>
                  <a:srgbClr val="1F4E79"/>
                </a:solidFill>
                <a:latin typeface="Calibri"/>
                <a:ea typeface="Calibri"/>
              </a:rPr>
              <a:t>Left: pipeline</a:t>
            </a:r>
            <a:endParaRPr lang="en-US" sz="1600" noProof="1"/>
          </a:p>
          <a:p>
            <a:pPr marL="0" algn="l">
              <a:lnSpc>
                <a:spcPct val="120000"/>
              </a:lnSpc>
            </a:pPr>
            <a:r>
              <a:rPr lang="en-US" sz="1150" noProof="1">
                <a:solidFill>
                  <a:srgbClr val="16324F"/>
                </a:solidFill>
                <a:latin typeface="Calibri"/>
                <a:ea typeface="Calibri"/>
              </a:rPr>
              <a:t>Pick a cat base and a dog target, get the target's features from the surrogate, partially noise the base image, then run guided reverse diffusion.</a:t>
            </a:r>
            <a:endParaRPr lang="en-US" sz="1600" noProof="1"/>
          </a:p>
        </p:txBody>
      </p:sp>
      <p:sp>
        <p:nvSpPr>
          <p:cNvPr id="9" name="Shape 6"/>
          <p:cNvSpPr/>
          <p:nvPr/>
        </p:nvSpPr>
        <p:spPr>
          <a:xfrm>
            <a:off x="4663440" y="22402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0F4F8"/>
          </a:solidFill>
          <a:ln w="12700">
            <a:solidFill>
              <a:srgbClr val="F0F4F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4800600" y="2294890"/>
            <a:ext cx="374904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1250" b="1" noProof="1">
                <a:solidFill>
                  <a:srgbClr val="1F4E79"/>
                </a:solidFill>
                <a:latin typeface="Calibri"/>
                <a:ea typeface="Calibri"/>
              </a:rPr>
              <a:t>Right: the loop</a:t>
            </a:r>
            <a:endParaRPr lang="en-US" sz="1600" noProof="1"/>
          </a:p>
          <a:p>
            <a:pPr marL="0" algn="l">
              <a:lnSpc>
                <a:spcPct val="120000"/>
              </a:lnSpc>
            </a:pPr>
            <a:r>
              <a:rPr lang="en-US" sz="1150" noProof="1">
                <a:solidFill>
                  <a:srgbClr val="16324F"/>
                </a:solidFill>
                <a:latin typeface="Calibri"/>
                <a:ea typeface="Calibri"/>
              </a:rPr>
              <a:t>At every reverse step, predict the clean image, score feature collision plus LPIPS, and nudge the sample against the gradient until t = 0.</a:t>
            </a:r>
            <a:endParaRPr lang="en-US" sz="1600" noProof="1"/>
          </a:p>
        </p:txBody>
      </p:sp>
      <p:sp>
        <p:nvSpPr>
          <p:cNvPr id="11" name="Shape 8"/>
          <p:cNvSpPr/>
          <p:nvPr/>
        </p:nvSpPr>
        <p:spPr>
          <a:xfrm>
            <a:off x="4663440" y="34290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0F4F8"/>
          </a:solidFill>
          <a:ln w="12700">
            <a:solidFill>
              <a:srgbClr val="F0F4F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 txBox="1"/>
          <p:nvPr/>
        </p:nvSpPr>
        <p:spPr>
          <a:xfrm>
            <a:off x="4800600" y="3483610"/>
            <a:ext cx="374904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1250" b="1" noProof="1">
                <a:solidFill>
                  <a:srgbClr val="1F4E79"/>
                </a:solidFill>
                <a:latin typeface="Calibri"/>
                <a:ea typeface="Calibri"/>
              </a:rPr>
              <a:t>Reading step 5</a:t>
            </a:r>
            <a:endParaRPr lang="en-US" sz="1600" noProof="1"/>
          </a:p>
          <a:p>
            <a:pPr marL="0" algn="l">
              <a:lnSpc>
                <a:spcPct val="120000"/>
              </a:lnSpc>
            </a:pPr>
            <a:r>
              <a:rPr lang="en-US" sz="1150" noProof="1">
                <a:solidFill>
                  <a:srgbClr val="16324F"/>
                </a:solidFill>
                <a:latin typeface="Calibri"/>
                <a:ea typeface="Calibri"/>
              </a:rPr>
              <a:t>The poison keeps the cat label and still looks like a cat. 'Target class' means its features are pulled toward dog, not that it is relabelled.</a:t>
            </a:r>
            <a:endParaRPr lang="en-US" sz="16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2600" b="1" noProof="1">
                <a:solidFill>
                  <a:srgbClr val="16324F"/>
                </a:solidFill>
                <a:latin typeface="Cambria"/>
                <a:ea typeface="Cambria"/>
              </a:rPr>
              <a:t>Method: collision guidance inside every reverse step</a:t>
            </a:r>
            <a:endParaRPr lang="en-US" sz="2600" noProof="1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l">
              <a:lnSpc>
                <a:spcPct val="120000"/>
              </a:lnSpc>
            </a:pPr>
            <a:r>
              <a:rPr lang="en-US" sz="900" noProof="1">
                <a:solidFill>
                  <a:srgbClr val="5A6472"/>
                </a:solidFill>
                <a:latin typeface="Calibri"/>
                <a:ea typeface="Calibri"/>
              </a:rPr>
              <a:t>Rajat Dulal · Clean-label poisoning via guided diffusion</a:t>
            </a:r>
            <a:endParaRPr lang="en-US" sz="900" noProof="1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r">
              <a:lnSpc>
                <a:spcPct val="120000"/>
              </a:lnSpc>
            </a:pPr>
            <a:r>
              <a:rPr lang="en-US" sz="900" noProof="1">
                <a:solidFill>
                  <a:srgbClr val="5A6472"/>
                </a:solidFill>
                <a:latin typeface="Calibri"/>
                <a:ea typeface="Calibri"/>
              </a:rPr>
              <a:t>8 / 16</a:t>
            </a:r>
            <a:endParaRPr lang="en-US" sz="900" noProof="1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938020" cy="1463040"/>
          </a:xfrm>
          <a:prstGeom prst="roundRect">
            <a:avLst>
              <a:gd name="adj" fmla="val 5000"/>
            </a:avLst>
          </a:prstGeom>
          <a:solidFill>
            <a:srgbClr val="F0F4F8"/>
          </a:solidFill>
          <a:ln w="12700">
            <a:solidFill>
              <a:srgbClr val="F0F4F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4360" y="1206500"/>
            <a:ext cx="365760" cy="36576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94360" y="12065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ctr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Calibri"/>
                <a:ea typeface="Calibri"/>
              </a:rPr>
              <a:t>1</a:t>
            </a:r>
            <a:endParaRPr lang="en-US" sz="1300" noProof="1"/>
          </a:p>
        </p:txBody>
      </p:sp>
      <p:sp>
        <p:nvSpPr>
          <p:cNvPr id="8" name="Text 6"/>
          <p:cNvSpPr txBox="1"/>
          <p:nvPr/>
        </p:nvSpPr>
        <p:spPr>
          <a:xfrm>
            <a:off x="1051560" y="118872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l">
              <a:lnSpc>
                <a:spcPct val="120000"/>
              </a:lnSpc>
            </a:pPr>
            <a:r>
              <a:rPr lang="en-US" sz="1150" b="1" noProof="1">
                <a:solidFill>
                  <a:srgbClr val="16324F"/>
                </a:solidFill>
                <a:latin typeface="Calibri"/>
                <a:ea typeface="Calibri"/>
              </a:rPr>
              <a:t>Extract target features</a:t>
            </a:r>
            <a:endParaRPr lang="en-US" sz="1150" noProof="1"/>
          </a:p>
        </p:txBody>
      </p:sp>
      <p:sp>
        <p:nvSpPr>
          <p:cNvPr id="9" name="Text 7"/>
          <p:cNvSpPr txBox="1"/>
          <p:nvPr/>
        </p:nvSpPr>
        <p:spPr>
          <a:xfrm>
            <a:off x="594360" y="1691640"/>
            <a:ext cx="169164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1100" noProof="1">
                <a:solidFill>
                  <a:srgbClr val="5A6472"/>
                </a:solidFill>
                <a:latin typeface="Calibri"/>
                <a:ea typeface="Calibri"/>
              </a:rPr>
              <a:t>fₜ = φ(xₜ) from a surrogate CNN</a:t>
            </a:r>
            <a:endParaRPr lang="en-US" sz="1100" noProof="1"/>
          </a:p>
        </p:txBody>
      </p:sp>
      <p:sp>
        <p:nvSpPr>
          <p:cNvPr id="10" name="Shape 8"/>
          <p:cNvSpPr/>
          <p:nvPr/>
        </p:nvSpPr>
        <p:spPr>
          <a:xfrm>
            <a:off x="2551430" y="1097280"/>
            <a:ext cx="1938020" cy="1463040"/>
          </a:xfrm>
          <a:prstGeom prst="roundRect">
            <a:avLst>
              <a:gd name="adj" fmla="val 5000"/>
            </a:avLst>
          </a:prstGeom>
          <a:solidFill>
            <a:srgbClr val="F0F4F8"/>
          </a:solidFill>
          <a:ln w="12700">
            <a:solidFill>
              <a:srgbClr val="F0F4F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688590" y="1206500"/>
            <a:ext cx="365760" cy="36576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2688590" y="12065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ctr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Calibri"/>
                <a:ea typeface="Calibri"/>
              </a:rPr>
              <a:t>2</a:t>
            </a:r>
            <a:endParaRPr lang="en-US" sz="1300" noProof="1"/>
          </a:p>
        </p:txBody>
      </p:sp>
      <p:sp>
        <p:nvSpPr>
          <p:cNvPr id="13" name="Text 11"/>
          <p:cNvSpPr txBox="1"/>
          <p:nvPr/>
        </p:nvSpPr>
        <p:spPr>
          <a:xfrm>
            <a:off x="3145790" y="118872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l">
              <a:lnSpc>
                <a:spcPct val="120000"/>
              </a:lnSpc>
            </a:pPr>
            <a:r>
              <a:rPr lang="en-US" sz="1150" b="1" noProof="1">
                <a:solidFill>
                  <a:srgbClr val="16324F"/>
                </a:solidFill>
                <a:latin typeface="Calibri"/>
                <a:ea typeface="Calibri"/>
              </a:rPr>
              <a:t>Partial forward diffusion</a:t>
            </a:r>
            <a:endParaRPr lang="en-US" sz="1150" noProof="1"/>
          </a:p>
        </p:txBody>
      </p:sp>
      <p:sp>
        <p:nvSpPr>
          <p:cNvPr id="14" name="Text 12"/>
          <p:cNvSpPr txBox="1"/>
          <p:nvPr/>
        </p:nvSpPr>
        <p:spPr>
          <a:xfrm>
            <a:off x="2688590" y="1691640"/>
            <a:ext cx="169164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1100" noProof="1">
                <a:solidFill>
                  <a:srgbClr val="5A6472"/>
                </a:solidFill>
                <a:latin typeface="Calibri"/>
                <a:ea typeface="Calibri"/>
              </a:rPr>
              <a:t>Noise base image to t_start (SDEdit); keeps coarse structure and label</a:t>
            </a:r>
            <a:endParaRPr lang="en-US" sz="1100" noProof="1"/>
          </a:p>
        </p:txBody>
      </p:sp>
      <p:sp>
        <p:nvSpPr>
          <p:cNvPr id="15" name="Shape 13"/>
          <p:cNvSpPr/>
          <p:nvPr/>
        </p:nvSpPr>
        <p:spPr>
          <a:xfrm>
            <a:off x="4645660" y="1097280"/>
            <a:ext cx="1938020" cy="1463040"/>
          </a:xfrm>
          <a:prstGeom prst="roundRect">
            <a:avLst>
              <a:gd name="adj" fmla="val 5000"/>
            </a:avLst>
          </a:prstGeom>
          <a:solidFill>
            <a:srgbClr val="F0F4F8"/>
          </a:solidFill>
          <a:ln w="12700">
            <a:solidFill>
              <a:srgbClr val="F0F4F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82820" y="1206500"/>
            <a:ext cx="365760" cy="36576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782820" y="12065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ctr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Calibri"/>
                <a:ea typeface="Calibri"/>
              </a:rPr>
              <a:t>3</a:t>
            </a:r>
            <a:endParaRPr lang="en-US" sz="1300" noProof="1"/>
          </a:p>
        </p:txBody>
      </p:sp>
      <p:sp>
        <p:nvSpPr>
          <p:cNvPr id="18" name="Text 16"/>
          <p:cNvSpPr txBox="1"/>
          <p:nvPr/>
        </p:nvSpPr>
        <p:spPr>
          <a:xfrm>
            <a:off x="5240020" y="118872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l">
              <a:lnSpc>
                <a:spcPct val="120000"/>
              </a:lnSpc>
            </a:pPr>
            <a:r>
              <a:rPr lang="en-US" sz="1150" b="1" noProof="1">
                <a:solidFill>
                  <a:srgbClr val="16324F"/>
                </a:solidFill>
                <a:latin typeface="Calibri"/>
                <a:ea typeface="Calibri"/>
              </a:rPr>
              <a:t>Predict clean image</a:t>
            </a:r>
            <a:endParaRPr lang="en-US" sz="1150" noProof="1"/>
          </a:p>
        </p:txBody>
      </p:sp>
      <p:sp>
        <p:nvSpPr>
          <p:cNvPr id="19" name="Text 17"/>
          <p:cNvSpPr txBox="1"/>
          <p:nvPr/>
        </p:nvSpPr>
        <p:spPr>
          <a:xfrm>
            <a:off x="4782820" y="1691640"/>
            <a:ext cx="169164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1100" noProof="1">
                <a:solidFill>
                  <a:srgbClr val="5A6472"/>
                </a:solidFill>
                <a:latin typeface="Calibri"/>
                <a:ea typeface="Calibri"/>
              </a:rPr>
              <a:t>UNet gives ε̂, then x̂₀ at each step</a:t>
            </a:r>
            <a:endParaRPr lang="en-US" sz="1100" noProof="1"/>
          </a:p>
        </p:txBody>
      </p:sp>
      <p:sp>
        <p:nvSpPr>
          <p:cNvPr id="20" name="Shape 18"/>
          <p:cNvSpPr/>
          <p:nvPr/>
        </p:nvSpPr>
        <p:spPr>
          <a:xfrm>
            <a:off x="6738620" y="1097280"/>
            <a:ext cx="1938020" cy="1463040"/>
          </a:xfrm>
          <a:prstGeom prst="roundRect">
            <a:avLst>
              <a:gd name="adj" fmla="val 5000"/>
            </a:avLst>
          </a:prstGeom>
          <a:solidFill>
            <a:srgbClr val="F0F4F8"/>
          </a:solidFill>
          <a:ln w="12700">
            <a:solidFill>
              <a:srgbClr val="F0F4F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875780" y="1206500"/>
            <a:ext cx="365760" cy="365760"/>
          </a:xfrm>
          <a:prstGeom prst="ellipse">
            <a:avLst/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6875780" y="12065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ctr">
              <a:lnSpc>
                <a:spcPct val="120000"/>
              </a:lnSpc>
            </a:pPr>
            <a:r>
              <a:rPr lang="en-US" sz="1300" b="1" noProof="1">
                <a:solidFill>
                  <a:srgbClr val="FFFFFF"/>
                </a:solidFill>
                <a:latin typeface="Calibri"/>
                <a:ea typeface="Calibri"/>
              </a:rPr>
              <a:t>4</a:t>
            </a:r>
            <a:endParaRPr lang="en-US" sz="1300" noProof="1"/>
          </a:p>
        </p:txBody>
      </p:sp>
      <p:sp>
        <p:nvSpPr>
          <p:cNvPr id="23" name="Text 21"/>
          <p:cNvSpPr txBox="1"/>
          <p:nvPr/>
        </p:nvSpPr>
        <p:spPr>
          <a:xfrm>
            <a:off x="7332980" y="118872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l">
              <a:lnSpc>
                <a:spcPct val="120000"/>
              </a:lnSpc>
            </a:pPr>
            <a:r>
              <a:rPr lang="en-US" sz="1150" b="1" noProof="1">
                <a:solidFill>
                  <a:srgbClr val="16324F"/>
                </a:solidFill>
                <a:latin typeface="Calibri"/>
                <a:ea typeface="Calibri"/>
              </a:rPr>
              <a:t>Guided update</a:t>
            </a:r>
            <a:endParaRPr lang="en-US" sz="1150" noProof="1"/>
          </a:p>
        </p:txBody>
      </p:sp>
      <p:sp>
        <p:nvSpPr>
          <p:cNvPr id="24" name="Text 22"/>
          <p:cNvSpPr txBox="1"/>
          <p:nvPr/>
        </p:nvSpPr>
        <p:spPr>
          <a:xfrm>
            <a:off x="6875780" y="1691640"/>
            <a:ext cx="169164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1100" noProof="1">
                <a:solidFill>
                  <a:srgbClr val="5A6472"/>
                </a:solidFill>
                <a:latin typeface="Calibri"/>
                <a:ea typeface="Calibri"/>
              </a:rPr>
              <a:t>Step against ∇ of the loss; repeat down to t = 0</a:t>
            </a:r>
            <a:endParaRPr lang="en-US" sz="1100" noProof="1"/>
          </a:p>
        </p:txBody>
      </p:sp>
      <p:sp>
        <p:nvSpPr>
          <p:cNvPr id="25" name="Shape 23"/>
          <p:cNvSpPr/>
          <p:nvPr/>
        </p:nvSpPr>
        <p:spPr>
          <a:xfrm>
            <a:off x="457200" y="2788920"/>
            <a:ext cx="8229600" cy="1234440"/>
          </a:xfrm>
          <a:prstGeom prst="roundRect">
            <a:avLst>
              <a:gd name="adj" fmla="val 5926"/>
            </a:avLst>
          </a:prstGeom>
          <a:solidFill>
            <a:srgbClr val="16324F"/>
          </a:solidFill>
          <a:ln w="12700">
            <a:solidFill>
              <a:srgbClr val="16324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685800" y="2834640"/>
            <a:ext cx="77724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l">
              <a:lnSpc>
                <a:spcPct val="120000"/>
              </a:lnSpc>
            </a:pPr>
            <a:r>
              <a:rPr lang="en-US" sz="1800" b="1" noProof="1">
                <a:solidFill>
                  <a:srgbClr val="FFFFFF"/>
                </a:solidFill>
                <a:latin typeface="Cambria"/>
                <a:ea typeface="Cambria"/>
              </a:rPr>
              <a:t>L = ‖φ(x̂₀) − fₜ‖² + λ_lp · LPIPS(x̂₀, x_b)</a:t>
            </a:r>
            <a:endParaRPr lang="en-US" sz="1600" noProof="1"/>
          </a:p>
          <a:p>
            <a:pPr marL="0" algn="l">
              <a:lnSpc>
                <a:spcPct val="120000"/>
              </a:lnSpc>
            </a:pPr>
            <a:r>
              <a:rPr lang="en-US" sz="1600" noProof="1">
                <a:solidFill>
                  <a:srgbClr val="FFFFFF"/>
                </a:solidFill>
                <a:latin typeface="Cambria"/>
                <a:ea typeface="Cambria"/>
              </a:rPr>
              <a:t>xₜ₋₁ = SchedulerStep(ε̂, xₜ) − g · (t/T) · ∇L</a:t>
            </a:r>
            <a:endParaRPr lang="en-US" sz="1600" noProof="1"/>
          </a:p>
        </p:txBody>
      </p:sp>
      <p:sp>
        <p:nvSpPr>
          <p:cNvPr id="27" name="Text 25"/>
          <p:cNvSpPr txBox="1"/>
          <p:nvPr/>
        </p:nvSpPr>
        <p:spPr>
          <a:xfrm>
            <a:off x="685800" y="361188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l">
              <a:lnSpc>
                <a:spcPct val="120000"/>
              </a:lnSpc>
            </a:pPr>
            <a:r>
              <a:rPr lang="en-US" sz="1100" noProof="1">
                <a:solidFill>
                  <a:srgbClr val="C3CFDD"/>
                </a:solidFill>
                <a:latin typeface="Calibri"/>
                <a:ea typeface="Calibri"/>
              </a:rPr>
              <a:t>Collision term pulls features toward the target; LPIPS keeps the image close to the base. Frozen google/ddpm-cifar10-32, no diffusion training.</a:t>
            </a:r>
            <a:endParaRPr lang="en-US" sz="1100" noProof="1"/>
          </a:p>
        </p:txBody>
      </p:sp>
      <p:sp>
        <p:nvSpPr>
          <p:cNvPr id="28" name="Text 26"/>
          <p:cNvSpPr txBox="1"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l">
              <a:lnSpc>
                <a:spcPct val="120000"/>
              </a:lnSpc>
            </a:pPr>
            <a:r>
              <a:rPr lang="en-US" sz="1150" noProof="1">
                <a:solidFill>
                  <a:srgbClr val="5A6472"/>
                </a:solidFill>
                <a:latin typeface="Calibri"/>
                <a:ea typeface="Calibri"/>
              </a:rPr>
              <a:t>Threat model: attacker injects correctly labelled poisons only, uses a surrogate, never sees victim weights. The diffusion model is a generator, not a target or defence.</a:t>
            </a:r>
            <a:endParaRPr lang="en-US" sz="115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2600" b="1" noProof="1">
                <a:solidFill>
                  <a:srgbClr val="16324F"/>
                </a:solidFill>
                <a:latin typeface="Cambria"/>
                <a:ea typeface="Cambria"/>
              </a:rPr>
              <a:t>Experimental setup</a:t>
            </a:r>
            <a:endParaRPr lang="en-US" sz="2600" noProof="1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l">
              <a:lnSpc>
                <a:spcPct val="120000"/>
              </a:lnSpc>
            </a:pPr>
            <a:r>
              <a:rPr lang="en-US" sz="900" noProof="1">
                <a:solidFill>
                  <a:srgbClr val="5A6472"/>
                </a:solidFill>
                <a:latin typeface="Calibri"/>
                <a:ea typeface="Calibri"/>
              </a:rPr>
              <a:t>Rajat Dulal · Clean-label poisoning via guided diffusion</a:t>
            </a:r>
            <a:endParaRPr lang="en-US" sz="900" noProof="1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r">
              <a:lnSpc>
                <a:spcPct val="120000"/>
              </a:lnSpc>
            </a:pPr>
            <a:r>
              <a:rPr lang="en-US" sz="900" noProof="1">
                <a:solidFill>
                  <a:srgbClr val="5A6472"/>
                </a:solidFill>
                <a:latin typeface="Calibri"/>
                <a:ea typeface="Calibri"/>
              </a:rPr>
              <a:t>9 / 16</a:t>
            </a:r>
            <a:endParaRPr lang="en-US" sz="900" noProof="1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0F4F8"/>
          </a:solidFill>
          <a:ln w="12700">
            <a:solidFill>
              <a:srgbClr val="F0F4F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640080" y="11887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l">
              <a:lnSpc>
                <a:spcPct val="120000"/>
              </a:lnSpc>
            </a:pPr>
            <a:r>
              <a:rPr lang="en-US" sz="1200" b="1" noProof="1">
                <a:solidFill>
                  <a:srgbClr val="1F4E79"/>
                </a:solidFill>
                <a:latin typeface="Calibri"/>
                <a:ea typeface="Calibri"/>
              </a:rPr>
              <a:t>Task</a:t>
            </a:r>
            <a:endParaRPr lang="en-US" sz="1200" noProof="1"/>
          </a:p>
        </p:txBody>
      </p:sp>
      <p:sp>
        <p:nvSpPr>
          <p:cNvPr id="7" name="Text 5"/>
          <p:cNvSpPr txBox="1"/>
          <p:nvPr/>
        </p:nvSpPr>
        <p:spPr>
          <a:xfrm>
            <a:off x="640080" y="148082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1300" noProof="1">
                <a:solidFill>
                  <a:srgbClr val="16324F"/>
                </a:solidFill>
                <a:latin typeface="Calibri"/>
                <a:ea typeface="Calibri"/>
              </a:rPr>
              <a:t>CIFAR-10, dog→cat: base class cat (poison keeps cat label), target class dog</a:t>
            </a:r>
            <a:endParaRPr lang="en-US" sz="1300" noProof="1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0F4F8"/>
          </a:solidFill>
          <a:ln w="12700">
            <a:solidFill>
              <a:srgbClr val="F0F4F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846320" y="11887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l">
              <a:lnSpc>
                <a:spcPct val="120000"/>
              </a:lnSpc>
            </a:pPr>
            <a:r>
              <a:rPr lang="en-US" sz="1200" b="1" noProof="1">
                <a:solidFill>
                  <a:srgbClr val="1F4E79"/>
                </a:solidFill>
                <a:latin typeface="Calibri"/>
                <a:ea typeface="Calibri"/>
              </a:rPr>
              <a:t>Poison budget</a:t>
            </a:r>
            <a:endParaRPr lang="en-US" sz="1200" noProof="1"/>
          </a:p>
        </p:txBody>
      </p:sp>
      <p:sp>
        <p:nvSpPr>
          <p:cNvPr id="10" name="Text 8"/>
          <p:cNvSpPr txBox="1"/>
          <p:nvPr/>
        </p:nvSpPr>
        <p:spPr>
          <a:xfrm>
            <a:off x="4846320" y="148082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1300" noProof="1">
                <a:solidFill>
                  <a:srgbClr val="16324F"/>
                </a:solidFill>
                <a:latin typeface="Calibri"/>
                <a:ea typeface="Calibri"/>
              </a:rPr>
              <a:t>25 diffusion-guided images, about 0.05% of the 50,000 training images</a:t>
            </a:r>
            <a:endParaRPr lang="en-US" sz="1300" noProof="1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0F4F8"/>
          </a:solidFill>
          <a:ln w="12700">
            <a:solidFill>
              <a:srgbClr val="F0F4F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" y="2377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l">
              <a:lnSpc>
                <a:spcPct val="120000"/>
              </a:lnSpc>
            </a:pPr>
            <a:r>
              <a:rPr lang="en-US" sz="1200" b="1" noProof="1">
                <a:solidFill>
                  <a:srgbClr val="1F4E79"/>
                </a:solidFill>
                <a:latin typeface="Calibri"/>
                <a:ea typeface="Calibri"/>
              </a:rPr>
              <a:t>Surrogate</a:t>
            </a:r>
            <a:endParaRPr lang="en-US" sz="1200" noProof="1"/>
          </a:p>
        </p:txBody>
      </p:sp>
      <p:sp>
        <p:nvSpPr>
          <p:cNvPr id="13" name="Text 11"/>
          <p:cNvSpPr txBox="1"/>
          <p:nvPr/>
        </p:nvSpPr>
        <p:spPr>
          <a:xfrm>
            <a:off x="640080" y="266954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1300" noProof="1">
                <a:solidFill>
                  <a:srgbClr val="16324F"/>
                </a:solidFill>
                <a:latin typeface="Calibri"/>
                <a:ea typeface="Calibri"/>
              </a:rPr>
              <a:t>Lightweight 4-block CNN, 15 epochs; guides the diffusion loop</a:t>
            </a:r>
            <a:endParaRPr lang="en-US" sz="1300" noProof="1"/>
          </a:p>
        </p:txBody>
      </p:sp>
      <p:sp>
        <p:nvSpPr>
          <p:cNvPr id="14" name="Shape 12"/>
          <p:cNvSpPr/>
          <p:nvPr/>
        </p:nvSpPr>
        <p:spPr>
          <a:xfrm>
            <a:off x="4663440" y="228600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0F4F8"/>
          </a:solidFill>
          <a:ln w="12700">
            <a:solidFill>
              <a:srgbClr val="F0F4F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4846320" y="237744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l">
              <a:lnSpc>
                <a:spcPct val="120000"/>
              </a:lnSpc>
            </a:pPr>
            <a:r>
              <a:rPr lang="en-US" sz="1200" b="1" noProof="1">
                <a:solidFill>
                  <a:srgbClr val="1F4E79"/>
                </a:solidFill>
                <a:latin typeface="Calibri"/>
                <a:ea typeface="Calibri"/>
              </a:rPr>
              <a:t>Victim</a:t>
            </a:r>
            <a:endParaRPr lang="en-US" sz="1200" noProof="1"/>
          </a:p>
        </p:txBody>
      </p:sp>
      <p:sp>
        <p:nvSpPr>
          <p:cNvPr id="16" name="Text 14"/>
          <p:cNvSpPr txBox="1"/>
          <p:nvPr/>
        </p:nvSpPr>
        <p:spPr>
          <a:xfrm>
            <a:off x="4846320" y="266954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1300" noProof="1">
                <a:solidFill>
                  <a:srgbClr val="16324F"/>
                </a:solidFill>
                <a:latin typeface="Calibri"/>
                <a:ea typeface="Calibri"/>
              </a:rPr>
              <a:t>Same-architecture CNN trained from scratch (8 epochs, Adam)</a:t>
            </a:r>
            <a:endParaRPr lang="en-US" sz="1300" noProof="1"/>
          </a:p>
        </p:txBody>
      </p:sp>
      <p:sp>
        <p:nvSpPr>
          <p:cNvPr id="17" name="Shape 15"/>
          <p:cNvSpPr/>
          <p:nvPr/>
        </p:nvSpPr>
        <p:spPr>
          <a:xfrm>
            <a:off x="457200" y="347472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0F4F8"/>
          </a:solidFill>
          <a:ln w="12700">
            <a:solidFill>
              <a:srgbClr val="F0F4F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640080" y="35661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l">
              <a:lnSpc>
                <a:spcPct val="120000"/>
              </a:lnSpc>
            </a:pPr>
            <a:r>
              <a:rPr lang="en-US" sz="1200" b="1" noProof="1">
                <a:solidFill>
                  <a:srgbClr val="1F4E79"/>
                </a:solidFill>
                <a:latin typeface="Calibri"/>
                <a:ea typeface="Calibri"/>
              </a:rPr>
              <a:t>Metrics</a:t>
            </a:r>
            <a:endParaRPr lang="en-US" sz="1200" noProof="1"/>
          </a:p>
        </p:txBody>
      </p:sp>
      <p:sp>
        <p:nvSpPr>
          <p:cNvPr id="19" name="Text 17"/>
          <p:cNvSpPr txBox="1"/>
          <p:nvPr/>
        </p:nvSpPr>
        <p:spPr>
          <a:xfrm>
            <a:off x="640080" y="385826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1300" noProof="1">
                <a:solidFill>
                  <a:srgbClr val="16324F"/>
                </a:solidFill>
                <a:latin typeface="Calibri"/>
                <a:ea typeface="Calibri"/>
              </a:rPr>
              <a:t>CDA on the test set; target-class ASR on 1,000 held-out dog images</a:t>
            </a:r>
            <a:endParaRPr lang="en-US" sz="1300" noProof="1"/>
          </a:p>
        </p:txBody>
      </p:sp>
      <p:sp>
        <p:nvSpPr>
          <p:cNvPr id="20" name="Shape 18"/>
          <p:cNvSpPr/>
          <p:nvPr/>
        </p:nvSpPr>
        <p:spPr>
          <a:xfrm>
            <a:off x="4663440" y="3474720"/>
            <a:ext cx="4023360" cy="1051560"/>
          </a:xfrm>
          <a:prstGeom prst="roundRect">
            <a:avLst>
              <a:gd name="adj" fmla="val 6957"/>
            </a:avLst>
          </a:prstGeom>
          <a:solidFill>
            <a:srgbClr val="F0F4F8"/>
          </a:solidFill>
          <a:ln w="12700">
            <a:solidFill>
              <a:srgbClr val="F0F4F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846320" y="35661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l">
              <a:lnSpc>
                <a:spcPct val="120000"/>
              </a:lnSpc>
            </a:pPr>
            <a:r>
              <a:rPr lang="en-US" sz="1200" b="1" noProof="1">
                <a:solidFill>
                  <a:srgbClr val="1F4E79"/>
                </a:solidFill>
                <a:latin typeface="Calibri"/>
                <a:ea typeface="Calibri"/>
              </a:rPr>
              <a:t>Compute</a:t>
            </a:r>
            <a:endParaRPr lang="en-US" sz="1200" noProof="1"/>
          </a:p>
        </p:txBody>
      </p:sp>
      <p:sp>
        <p:nvSpPr>
          <p:cNvPr id="22" name="Text 20"/>
          <p:cNvSpPr txBox="1"/>
          <p:nvPr/>
        </p:nvSpPr>
        <p:spPr>
          <a:xfrm>
            <a:off x="4846320" y="3858260"/>
            <a:ext cx="365760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1300" noProof="1">
                <a:solidFill>
                  <a:srgbClr val="16324F"/>
                </a:solidFill>
                <a:latin typeface="Calibri"/>
                <a:ea typeface="Calibri"/>
              </a:rPr>
              <a:t>Free-tier Colab/Kaggle T4; single run per setting, no confidence intervals</a:t>
            </a:r>
            <a:endParaRPr lang="en-US" sz="13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2600" b="1" noProof="1">
                <a:solidFill>
                  <a:srgbClr val="16324F"/>
                </a:solidFill>
                <a:latin typeface="Cambria"/>
                <a:ea typeface="Cambria"/>
              </a:rPr>
              <a:t>Headline: 25 poisons lift dog→cat ASR to 30.8%</a:t>
            </a:r>
            <a:endParaRPr lang="en-US" sz="2600" noProof="1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l">
              <a:lnSpc>
                <a:spcPct val="120000"/>
              </a:lnSpc>
            </a:pPr>
            <a:r>
              <a:rPr lang="en-US" sz="900" noProof="1">
                <a:solidFill>
                  <a:srgbClr val="5A6472"/>
                </a:solidFill>
                <a:latin typeface="Calibri"/>
                <a:ea typeface="Calibri"/>
              </a:rPr>
              <a:t>Rajat Dulal · Clean-label poisoning via guided diffusion</a:t>
            </a:r>
            <a:endParaRPr lang="en-US" sz="900" noProof="1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r">
              <a:lnSpc>
                <a:spcPct val="120000"/>
              </a:lnSpc>
            </a:pPr>
            <a:r>
              <a:rPr lang="en-US" sz="900" noProof="1">
                <a:solidFill>
                  <a:srgbClr val="5A6472"/>
                </a:solidFill>
                <a:latin typeface="Calibri"/>
                <a:ea typeface="Calibri"/>
              </a:rPr>
              <a:t>10 / 16</a:t>
            </a:r>
            <a:endParaRPr lang="en-US" sz="900" noProof="1"/>
          </a:p>
        </p:txBody>
      </p:sp>
      <p:sp>
        <p:nvSpPr>
          <p:cNvPr id="5" name="Shape 3"/>
          <p:cNvSpPr/>
          <p:nvPr/>
        </p:nvSpPr>
        <p:spPr>
          <a:xfrm>
            <a:off x="7680960" y="109220"/>
            <a:ext cx="1005840" cy="256540"/>
          </a:xfrm>
          <a:prstGeom prst="roundRect">
            <a:avLst>
              <a:gd name="adj" fmla="val 50000"/>
            </a:avLst>
          </a:prstGeom>
          <a:solidFill>
            <a:srgbClr val="2F7D57"/>
          </a:solidFill>
          <a:ln w="12700">
            <a:solidFill>
              <a:srgbClr val="2F7D5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680960" y="109220"/>
            <a:ext cx="1005840" cy="2565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ctr">
              <a:lnSpc>
                <a:spcPct val="120000"/>
              </a:lnSpc>
            </a:pPr>
            <a:r>
              <a:rPr lang="en-US" sz="1000" b="1" noProof="1">
                <a:solidFill>
                  <a:srgbClr val="FFFFFF"/>
                </a:solidFill>
                <a:latin typeface="Calibri"/>
                <a:ea typeface="Calibri"/>
              </a:rPr>
              <a:t>Completed</a:t>
            </a:r>
            <a:endParaRPr lang="en-US" sz="1000" noProof="1"/>
          </a:p>
        </p:txBody>
      </p:sp>
      <p:sp>
        <p:nvSpPr>
          <p:cNvPr id="7" name="Shape 5"/>
          <p:cNvSpPr/>
          <p:nvPr/>
        </p:nvSpPr>
        <p:spPr>
          <a:xfrm>
            <a:off x="4937760" y="105156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F0F4F8"/>
          </a:solidFill>
          <a:ln w="12700">
            <a:solidFill>
              <a:srgbClr val="F0F4F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074920" y="1097280"/>
            <a:ext cx="347472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l">
              <a:lnSpc>
                <a:spcPct val="120000"/>
              </a:lnSpc>
            </a:pPr>
            <a:r>
              <a:rPr lang="en-US" sz="3000" b="1" noProof="1">
                <a:solidFill>
                  <a:srgbClr val="1F4E79"/>
                </a:solidFill>
                <a:latin typeface="Cambria"/>
                <a:ea typeface="Cambria"/>
              </a:rPr>
              <a:t>+30.1 pp</a:t>
            </a:r>
            <a:endParaRPr lang="en-US" sz="1600" noProof="1"/>
          </a:p>
          <a:p>
            <a:pPr marL="0" algn="l">
              <a:lnSpc>
                <a:spcPct val="120000"/>
              </a:lnSpc>
            </a:pPr>
            <a:r>
              <a:rPr lang="en-US" sz="1150" noProof="1">
                <a:solidFill>
                  <a:srgbClr val="5A6472"/>
                </a:solidFill>
                <a:latin typeface="Calibri"/>
                <a:ea typeface="Calibri"/>
              </a:rPr>
              <a:t>ASR increase at t_start = 100, g = 100</a:t>
            </a:r>
            <a:endParaRPr lang="en-US" sz="1600" noProof="1"/>
          </a:p>
        </p:txBody>
      </p:sp>
      <p:sp>
        <p:nvSpPr>
          <p:cNvPr id="9" name="Text 7"/>
          <p:cNvSpPr txBox="1"/>
          <p:nvPr/>
        </p:nvSpPr>
        <p:spPr>
          <a:xfrm>
            <a:off x="4937760" y="2286000"/>
            <a:ext cx="3749040" cy="2103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342900" algn="l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250" noProof="1">
                <a:solidFill>
                  <a:srgbClr val="16324F"/>
                </a:solidFill>
                <a:latin typeface="Calibri"/>
                <a:ea typeface="Calibri"/>
              </a:rPr>
              <a:t>Clean accuracy: 72.89% clean-trained vs 78.74% poison-trained, so no accuracy drop that would flag the poisons.</a:t>
            </a:r>
            <a:endParaRPr lang="en-US" sz="1250" noProof="1"/>
          </a:p>
          <a:p>
            <a:pPr marL="342900" algn="l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250" noProof="1">
                <a:solidFill>
                  <a:srgbClr val="16324F"/>
                </a:solidFill>
                <a:latin typeface="Calibri"/>
                <a:ea typeface="Calibri"/>
              </a:rPr>
              <a:t>Labels are untouched; poisons are real-looking cat images.</a:t>
            </a:r>
            <a:endParaRPr lang="en-US" sz="1250" noProof="1"/>
          </a:p>
          <a:p>
            <a:pPr marL="342900" algn="l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250" noProof="1">
                <a:solidFill>
                  <a:srgbClr val="16324F"/>
                </a:solidFill>
                <a:latin typeface="Calibri"/>
                <a:ea typeface="Calibri"/>
              </a:rPr>
              <a:t>Caveat: one run, one class pair. Phase 1 (14.5%) is not a controlled comparison.</a:t>
            </a:r>
            <a:endParaRPr lang="en-US" sz="1250" noProof="1"/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2326F081-914B-BB8E-7447-823C493E187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6984966"/>
              </p:ext>
            </p:extLst>
          </p:nvPr>
        </p:nvGraphicFramePr>
        <p:xfrm>
          <a:off x="594360" y="960120"/>
          <a:ext cx="42062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535220BF-9FB1-2653-A785-4B439B253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" y="773952"/>
            <a:ext cx="4475085" cy="37551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C88884-B5D1-FB73-532D-07DF7EB3E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232" y="926352"/>
            <a:ext cx="4306011" cy="3602755"/>
          </a:xfrm>
          <a:prstGeom prst="rect">
            <a:avLst/>
          </a:prstGeom>
        </p:spPr>
      </p:pic>
      <p:sp>
        <p:nvSpPr>
          <p:cNvPr id="7" name="Text 0">
            <a:extLst>
              <a:ext uri="{FF2B5EF4-FFF2-40B4-BE49-F238E27FC236}">
                <a16:creationId xmlns:a16="http://schemas.microsoft.com/office/drawing/2014/main" id="{247A2078-3075-11E6-DC65-D5A527CF7265}"/>
              </a:ext>
            </a:extLst>
          </p:cNvPr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2500" b="1" noProof="1">
                <a:solidFill>
                  <a:srgbClr val="16324F"/>
                </a:solidFill>
                <a:latin typeface="Cambria"/>
                <a:ea typeface="Cambria"/>
              </a:rPr>
              <a:t>Confusion Matrix: 25 poisons lift dog→cat ASR to 30.8%</a:t>
            </a:r>
            <a:endParaRPr lang="en-US" sz="2500" noProof="1"/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6BB9C822-3023-1C78-4579-E097AF6F9549}"/>
              </a:ext>
            </a:extLst>
          </p:cNvPr>
          <p:cNvSpPr txBox="1"/>
          <p:nvPr/>
        </p:nvSpPr>
        <p:spPr>
          <a:xfrm>
            <a:off x="457200" y="4491111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1100" i="1" noProof="1">
                <a:solidFill>
                  <a:srgbClr val="5A6472"/>
                </a:solidFill>
                <a:latin typeface="Calibri"/>
                <a:ea typeface="Calibri"/>
              </a:rPr>
              <a:t>Result: Inserting 25 poisons (0.05%) increased the misclassification of dog class to cat class from 7 samples to 308 samples which is 30.10% increase.</a:t>
            </a:r>
            <a:endParaRPr lang="en-US" sz="1100" noProof="1"/>
          </a:p>
        </p:txBody>
      </p:sp>
    </p:spTree>
    <p:extLst>
      <p:ext uri="{BB962C8B-B14F-4D97-AF65-F5344CB8AC3E}">
        <p14:creationId xmlns:p14="http://schemas.microsoft.com/office/powerpoint/2010/main" val="957896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2600" b="1" noProof="1">
                <a:solidFill>
                  <a:srgbClr val="16324F"/>
                </a:solidFill>
                <a:latin typeface="Cambria"/>
                <a:ea typeface="Cambria"/>
              </a:rPr>
              <a:t>Partial-diffusion depth trades stealth for strength</a:t>
            </a:r>
            <a:endParaRPr lang="en-US" sz="2600" noProof="1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l">
              <a:lnSpc>
                <a:spcPct val="120000"/>
              </a:lnSpc>
            </a:pPr>
            <a:r>
              <a:rPr lang="en-US" sz="900" noProof="1">
                <a:solidFill>
                  <a:srgbClr val="5A6472"/>
                </a:solidFill>
                <a:latin typeface="Calibri"/>
                <a:ea typeface="Calibri"/>
              </a:rPr>
              <a:t>Rajat Dulal · Clean-label poisoning via guided diffusion</a:t>
            </a:r>
            <a:endParaRPr lang="en-US" sz="900" noProof="1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r">
              <a:lnSpc>
                <a:spcPct val="120000"/>
              </a:lnSpc>
            </a:pPr>
            <a:r>
              <a:rPr lang="en-US" sz="900" noProof="1">
                <a:solidFill>
                  <a:srgbClr val="5A6472"/>
                </a:solidFill>
                <a:latin typeface="Calibri"/>
                <a:ea typeface="Calibri"/>
              </a:rPr>
              <a:t>11 / 16</a:t>
            </a:r>
            <a:endParaRPr lang="en-US" sz="900" noProof="1"/>
          </a:p>
        </p:txBody>
      </p:sp>
      <p:sp>
        <p:nvSpPr>
          <p:cNvPr id="5" name="Shape 3"/>
          <p:cNvSpPr/>
          <p:nvPr/>
        </p:nvSpPr>
        <p:spPr>
          <a:xfrm>
            <a:off x="7680960" y="109220"/>
            <a:ext cx="1005840" cy="256540"/>
          </a:xfrm>
          <a:prstGeom prst="roundRect">
            <a:avLst>
              <a:gd name="adj" fmla="val 50000"/>
            </a:avLst>
          </a:prstGeom>
          <a:solidFill>
            <a:srgbClr val="2F7D57"/>
          </a:solidFill>
          <a:ln w="12700">
            <a:solidFill>
              <a:srgbClr val="2F7D5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680960" y="109220"/>
            <a:ext cx="1005840" cy="2565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ctr">
              <a:lnSpc>
                <a:spcPct val="120000"/>
              </a:lnSpc>
            </a:pPr>
            <a:r>
              <a:rPr lang="en-US" sz="1000" b="1" noProof="1">
                <a:solidFill>
                  <a:srgbClr val="FFFFFF"/>
                </a:solidFill>
                <a:latin typeface="Calibri"/>
                <a:ea typeface="Calibri"/>
              </a:rPr>
              <a:t>Completed</a:t>
            </a:r>
            <a:endParaRPr lang="en-US" sz="1000" noProof="1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4937760" y="1097280"/>
          <a:ext cx="3749040" cy="103632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algn="ctr"/>
                      <a:r>
                        <a:rPr lang="en-US" sz="1100" b="1" noProof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t_start</a:t>
                      </a:r>
                    </a:p>
                  </a:txBody>
                  <a:tcPr anchor="ctr">
                    <a:lnL w="6350">
                      <a:solidFill>
                        <a:srgbClr val="D3DCE6"/>
                      </a:solidFill>
                    </a:lnL>
                    <a:lnR w="6350">
                      <a:solidFill>
                        <a:srgbClr val="D3DCE6"/>
                      </a:solidFill>
                    </a:lnR>
                    <a:lnT w="6350">
                      <a:solidFill>
                        <a:srgbClr val="D3DCE6"/>
                      </a:solidFill>
                    </a:lnT>
                    <a:lnB w="6350">
                      <a:solidFill>
                        <a:srgbClr val="D3DCE6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sz="1100" b="1" noProof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Clean acc.</a:t>
                      </a:r>
                    </a:p>
                  </a:txBody>
                  <a:tcPr anchor="ctr">
                    <a:lnL w="6350">
                      <a:solidFill>
                        <a:srgbClr val="D3DCE6"/>
                      </a:solidFill>
                    </a:lnL>
                    <a:lnR w="6350">
                      <a:solidFill>
                        <a:srgbClr val="D3DCE6"/>
                      </a:solidFill>
                    </a:lnR>
                    <a:lnT w="6350">
                      <a:solidFill>
                        <a:srgbClr val="D3DCE6"/>
                      </a:solidFill>
                    </a:lnT>
                    <a:lnB w="6350">
                      <a:solidFill>
                        <a:srgbClr val="D3DCE6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sz="1100" b="1" noProof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Poisoned acc.</a:t>
                      </a:r>
                    </a:p>
                  </a:txBody>
                  <a:tcPr anchor="ctr">
                    <a:lnL w="6350">
                      <a:solidFill>
                        <a:srgbClr val="D3DCE6"/>
                      </a:solidFill>
                    </a:lnL>
                    <a:lnR w="6350">
                      <a:solidFill>
                        <a:srgbClr val="D3DCE6"/>
                      </a:solidFill>
                    </a:lnR>
                    <a:lnT w="6350">
                      <a:solidFill>
                        <a:srgbClr val="D3DCE6"/>
                      </a:solidFill>
                    </a:lnT>
                    <a:lnB w="6350">
                      <a:solidFill>
                        <a:srgbClr val="D3DCE6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sz="1100" b="1" noProof="1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ASR gain</a:t>
                      </a:r>
                    </a:p>
                  </a:txBody>
                  <a:tcPr anchor="ctr">
                    <a:lnL w="6350">
                      <a:solidFill>
                        <a:srgbClr val="D3DCE6"/>
                      </a:solidFill>
                    </a:lnL>
                    <a:lnR w="6350">
                      <a:solidFill>
                        <a:srgbClr val="D3DCE6"/>
                      </a:solidFill>
                    </a:lnR>
                    <a:lnT w="6350">
                      <a:solidFill>
                        <a:srgbClr val="D3DCE6"/>
                      </a:solidFill>
                    </a:lnT>
                    <a:lnB w="6350">
                      <a:solidFill>
                        <a:srgbClr val="D3DCE6"/>
                      </a:solidFill>
                    </a:lnB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algn="ctr"/>
                      <a:r>
                        <a:rPr lang="en-US" sz="1100" noProof="1">
                          <a:solidFill>
                            <a:srgbClr val="16324F"/>
                          </a:solidFill>
                          <a:latin typeface="Calibri"/>
                          <a:ea typeface="Calibri"/>
                        </a:rPr>
                        <a:t>50</a:t>
                      </a:r>
                    </a:p>
                  </a:txBody>
                  <a:tcPr anchor="ctr">
                    <a:lnL w="6350">
                      <a:solidFill>
                        <a:srgbClr val="D3DCE6"/>
                      </a:solidFill>
                    </a:lnL>
                    <a:lnR w="6350">
                      <a:solidFill>
                        <a:srgbClr val="D3DCE6"/>
                      </a:solidFill>
                    </a:lnR>
                    <a:lnT w="6350">
                      <a:solidFill>
                        <a:srgbClr val="D3DCE6"/>
                      </a:solidFill>
                    </a:lnT>
                    <a:lnB w="6350">
                      <a:solidFill>
                        <a:srgbClr val="D3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sz="1100" noProof="1">
                          <a:solidFill>
                            <a:srgbClr val="16324F"/>
                          </a:solidFill>
                          <a:latin typeface="Calibri"/>
                          <a:ea typeface="Calibri"/>
                        </a:rPr>
                        <a:t>71.45%</a:t>
                      </a:r>
                    </a:p>
                  </a:txBody>
                  <a:tcPr anchor="ctr">
                    <a:lnL w="6350">
                      <a:solidFill>
                        <a:srgbClr val="D3DCE6"/>
                      </a:solidFill>
                    </a:lnL>
                    <a:lnR w="6350">
                      <a:solidFill>
                        <a:srgbClr val="D3DCE6"/>
                      </a:solidFill>
                    </a:lnR>
                    <a:lnT w="6350">
                      <a:solidFill>
                        <a:srgbClr val="D3DCE6"/>
                      </a:solidFill>
                    </a:lnT>
                    <a:lnB w="6350">
                      <a:solidFill>
                        <a:srgbClr val="D3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sz="1100" noProof="1">
                          <a:solidFill>
                            <a:srgbClr val="16324F"/>
                          </a:solidFill>
                          <a:latin typeface="Calibri"/>
                          <a:ea typeface="Calibri"/>
                        </a:rPr>
                        <a:t>78.34%</a:t>
                      </a:r>
                    </a:p>
                  </a:txBody>
                  <a:tcPr anchor="ctr">
                    <a:lnL w="6350">
                      <a:solidFill>
                        <a:srgbClr val="D3DCE6"/>
                      </a:solidFill>
                    </a:lnL>
                    <a:lnR w="6350">
                      <a:solidFill>
                        <a:srgbClr val="D3DCE6"/>
                      </a:solidFill>
                    </a:lnR>
                    <a:lnT w="6350">
                      <a:solidFill>
                        <a:srgbClr val="D3DCE6"/>
                      </a:solidFill>
                    </a:lnT>
                    <a:lnB w="6350">
                      <a:solidFill>
                        <a:srgbClr val="D3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sz="1100" noProof="1">
                          <a:solidFill>
                            <a:srgbClr val="16324F"/>
                          </a:solidFill>
                          <a:latin typeface="Calibri"/>
                          <a:ea typeface="Calibri"/>
                        </a:rPr>
                        <a:t>+27.5 pp</a:t>
                      </a:r>
                    </a:p>
                  </a:txBody>
                  <a:tcPr anchor="ctr">
                    <a:lnL w="6350">
                      <a:solidFill>
                        <a:srgbClr val="D3DCE6"/>
                      </a:solidFill>
                    </a:lnL>
                    <a:lnR w="6350">
                      <a:solidFill>
                        <a:srgbClr val="D3DCE6"/>
                      </a:solidFill>
                    </a:lnR>
                    <a:lnT w="6350">
                      <a:solidFill>
                        <a:srgbClr val="D3DCE6"/>
                      </a:solidFill>
                    </a:lnT>
                    <a:lnB w="6350">
                      <a:solidFill>
                        <a:srgbClr val="D3DCE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algn="ctr"/>
                      <a:r>
                        <a:rPr lang="en-US" sz="1100" noProof="1">
                          <a:solidFill>
                            <a:srgbClr val="16324F"/>
                          </a:solidFill>
                          <a:latin typeface="Calibri"/>
                          <a:ea typeface="Calibri"/>
                        </a:rPr>
                        <a:t>100</a:t>
                      </a:r>
                    </a:p>
                  </a:txBody>
                  <a:tcPr anchor="ctr">
                    <a:lnL w="6350">
                      <a:solidFill>
                        <a:srgbClr val="D3DCE6"/>
                      </a:solidFill>
                    </a:lnL>
                    <a:lnR w="6350">
                      <a:solidFill>
                        <a:srgbClr val="D3DCE6"/>
                      </a:solidFill>
                    </a:lnR>
                    <a:lnT w="6350">
                      <a:solidFill>
                        <a:srgbClr val="D3DCE6"/>
                      </a:solidFill>
                    </a:lnT>
                    <a:lnB w="6350">
                      <a:solidFill>
                        <a:srgbClr val="D3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sz="1100" noProof="1">
                          <a:solidFill>
                            <a:srgbClr val="16324F"/>
                          </a:solidFill>
                          <a:latin typeface="Calibri"/>
                          <a:ea typeface="Calibri"/>
                        </a:rPr>
                        <a:t>72.89%</a:t>
                      </a:r>
                    </a:p>
                  </a:txBody>
                  <a:tcPr anchor="ctr">
                    <a:lnL w="6350">
                      <a:solidFill>
                        <a:srgbClr val="D3DCE6"/>
                      </a:solidFill>
                    </a:lnL>
                    <a:lnR w="6350">
                      <a:solidFill>
                        <a:srgbClr val="D3DCE6"/>
                      </a:solidFill>
                    </a:lnR>
                    <a:lnT w="6350">
                      <a:solidFill>
                        <a:srgbClr val="D3DCE6"/>
                      </a:solidFill>
                    </a:lnT>
                    <a:lnB w="6350">
                      <a:solidFill>
                        <a:srgbClr val="D3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sz="1100" noProof="1">
                          <a:solidFill>
                            <a:srgbClr val="16324F"/>
                          </a:solidFill>
                          <a:latin typeface="Calibri"/>
                          <a:ea typeface="Calibri"/>
                        </a:rPr>
                        <a:t>78.74%</a:t>
                      </a:r>
                    </a:p>
                  </a:txBody>
                  <a:tcPr anchor="ctr">
                    <a:lnL w="6350">
                      <a:solidFill>
                        <a:srgbClr val="D3DCE6"/>
                      </a:solidFill>
                    </a:lnL>
                    <a:lnR w="6350">
                      <a:solidFill>
                        <a:srgbClr val="D3DCE6"/>
                      </a:solidFill>
                    </a:lnR>
                    <a:lnT w="6350">
                      <a:solidFill>
                        <a:srgbClr val="D3DCE6"/>
                      </a:solidFill>
                    </a:lnT>
                    <a:lnB w="6350">
                      <a:solidFill>
                        <a:srgbClr val="D3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sz="1100" noProof="1">
                          <a:solidFill>
                            <a:srgbClr val="16324F"/>
                          </a:solidFill>
                          <a:latin typeface="Calibri"/>
                          <a:ea typeface="Calibri"/>
                        </a:rPr>
                        <a:t>+30.1 pp</a:t>
                      </a:r>
                    </a:p>
                  </a:txBody>
                  <a:tcPr anchor="ctr">
                    <a:lnL w="6350">
                      <a:solidFill>
                        <a:srgbClr val="D3DCE6"/>
                      </a:solidFill>
                    </a:lnL>
                    <a:lnR w="6350">
                      <a:solidFill>
                        <a:srgbClr val="D3DCE6"/>
                      </a:solidFill>
                    </a:lnR>
                    <a:lnT w="6350">
                      <a:solidFill>
                        <a:srgbClr val="D3DCE6"/>
                      </a:solidFill>
                    </a:lnT>
                    <a:lnB w="6350">
                      <a:solidFill>
                        <a:srgbClr val="D3DCE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algn="ctr"/>
                      <a:r>
                        <a:rPr lang="en-US" sz="1100" b="1" noProof="1">
                          <a:solidFill>
                            <a:srgbClr val="16324F"/>
                          </a:solidFill>
                          <a:latin typeface="Calibri"/>
                          <a:ea typeface="Calibri"/>
                        </a:rPr>
                        <a:t>300</a:t>
                      </a:r>
                    </a:p>
                  </a:txBody>
                  <a:tcPr anchor="ctr">
                    <a:lnL w="6350">
                      <a:solidFill>
                        <a:srgbClr val="D3DCE6"/>
                      </a:solidFill>
                    </a:lnL>
                    <a:lnR w="6350">
                      <a:solidFill>
                        <a:srgbClr val="D3DCE6"/>
                      </a:solidFill>
                    </a:lnR>
                    <a:lnT w="6350">
                      <a:solidFill>
                        <a:srgbClr val="D3DCE6"/>
                      </a:solidFill>
                    </a:lnT>
                    <a:lnB w="6350">
                      <a:solidFill>
                        <a:srgbClr val="D3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sz="1100" b="1" noProof="1">
                          <a:solidFill>
                            <a:srgbClr val="16324F"/>
                          </a:solidFill>
                          <a:latin typeface="Calibri"/>
                          <a:ea typeface="Calibri"/>
                        </a:rPr>
                        <a:t>71.45%</a:t>
                      </a:r>
                    </a:p>
                  </a:txBody>
                  <a:tcPr anchor="ctr">
                    <a:lnL w="6350">
                      <a:solidFill>
                        <a:srgbClr val="D3DCE6"/>
                      </a:solidFill>
                    </a:lnL>
                    <a:lnR w="6350">
                      <a:solidFill>
                        <a:srgbClr val="D3DCE6"/>
                      </a:solidFill>
                    </a:lnR>
                    <a:lnT w="6350">
                      <a:solidFill>
                        <a:srgbClr val="D3DCE6"/>
                      </a:solidFill>
                    </a:lnT>
                    <a:lnB w="6350">
                      <a:solidFill>
                        <a:srgbClr val="D3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sz="1100" b="1" noProof="1">
                          <a:solidFill>
                            <a:srgbClr val="B04A4A"/>
                          </a:solidFill>
                          <a:latin typeface="Calibri"/>
                          <a:ea typeface="Calibri"/>
                        </a:rPr>
                        <a:t>70.08%</a:t>
                      </a:r>
                    </a:p>
                  </a:txBody>
                  <a:tcPr anchor="ctr">
                    <a:lnL w="6350">
                      <a:solidFill>
                        <a:srgbClr val="D3DCE6"/>
                      </a:solidFill>
                    </a:lnL>
                    <a:lnR w="6350">
                      <a:solidFill>
                        <a:srgbClr val="D3DCE6"/>
                      </a:solidFill>
                    </a:lnR>
                    <a:lnT w="6350">
                      <a:solidFill>
                        <a:srgbClr val="D3DCE6"/>
                      </a:solidFill>
                    </a:lnT>
                    <a:lnB w="6350">
                      <a:solidFill>
                        <a:srgbClr val="D3DCE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/>
                      <a:r>
                        <a:rPr lang="en-US" sz="1100" b="1" noProof="1">
                          <a:solidFill>
                            <a:srgbClr val="16324F"/>
                          </a:solidFill>
                          <a:latin typeface="Calibri"/>
                          <a:ea typeface="Calibri"/>
                        </a:rPr>
                        <a:t>+44.2 pp</a:t>
                      </a:r>
                    </a:p>
                  </a:txBody>
                  <a:tcPr anchor="ctr">
                    <a:lnL w="6350">
                      <a:solidFill>
                        <a:srgbClr val="D3DCE6"/>
                      </a:solidFill>
                    </a:lnL>
                    <a:lnR w="6350">
                      <a:solidFill>
                        <a:srgbClr val="D3DCE6"/>
                      </a:solidFill>
                    </a:lnR>
                    <a:lnT w="6350">
                      <a:solidFill>
                        <a:srgbClr val="D3DCE6"/>
                      </a:solidFill>
                    </a:lnT>
                    <a:lnB w="6350">
                      <a:solidFill>
                        <a:srgbClr val="D3DCE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937760" y="2697480"/>
            <a:ext cx="3749040" cy="1645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1250" noProof="1">
                <a:solidFill>
                  <a:srgbClr val="16324F"/>
                </a:solidFill>
                <a:latin typeface="Calibri"/>
                <a:ea typeface="Calibri"/>
              </a:rPr>
              <a:t>Deeper noising gives the reverse process more room to move away from the base image. At t_start = 300 ASR peaks, but poisoned-model accuracy falls below the clean baseline, which weakens the clean-label stealth argument.</a:t>
            </a:r>
            <a:endParaRPr lang="en-US" sz="1250" noProof="1"/>
          </a:p>
        </p:txBody>
      </p:sp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CEA864BE-E02E-03E9-61A6-8BFAB64639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7130505"/>
              </p:ext>
            </p:extLst>
          </p:nvPr>
        </p:nvGraphicFramePr>
        <p:xfrm>
          <a:off x="527538" y="1097280"/>
          <a:ext cx="42062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2600" b="1" noProof="1">
                <a:solidFill>
                  <a:srgbClr val="16324F"/>
                </a:solidFill>
                <a:latin typeface="Cambria"/>
                <a:ea typeface="Cambria"/>
              </a:rPr>
              <a:t>What the poisons look like</a:t>
            </a:r>
            <a:endParaRPr lang="en-US" sz="2600" noProof="1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l">
              <a:lnSpc>
                <a:spcPct val="120000"/>
              </a:lnSpc>
            </a:pPr>
            <a:r>
              <a:rPr lang="en-US" sz="900" noProof="1">
                <a:solidFill>
                  <a:srgbClr val="5A6472"/>
                </a:solidFill>
                <a:latin typeface="Calibri"/>
                <a:ea typeface="Calibri"/>
              </a:rPr>
              <a:t>Rajat Dulal · Clean-label poisoning via guided diffusion</a:t>
            </a:r>
            <a:endParaRPr lang="en-US" sz="900" noProof="1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r">
              <a:lnSpc>
                <a:spcPct val="120000"/>
              </a:lnSpc>
            </a:pPr>
            <a:r>
              <a:rPr lang="en-US" sz="900" noProof="1">
                <a:solidFill>
                  <a:srgbClr val="5A6472"/>
                </a:solidFill>
                <a:latin typeface="Calibri"/>
                <a:ea typeface="Calibri"/>
              </a:rPr>
              <a:t>12 / 16</a:t>
            </a:r>
            <a:endParaRPr lang="en-US" sz="900" noProof="1"/>
          </a:p>
        </p:txBody>
      </p:sp>
      <p:sp>
        <p:nvSpPr>
          <p:cNvPr id="5" name="Shape 3"/>
          <p:cNvSpPr/>
          <p:nvPr/>
        </p:nvSpPr>
        <p:spPr>
          <a:xfrm>
            <a:off x="5486400" y="109220"/>
            <a:ext cx="3200400" cy="256540"/>
          </a:xfrm>
          <a:prstGeom prst="roundRect">
            <a:avLst>
              <a:gd name="adj" fmla="val 50000"/>
            </a:avLst>
          </a:prstGeom>
          <a:solidFill>
            <a:srgbClr val="2F7D57"/>
          </a:solidFill>
          <a:ln w="12700">
            <a:solidFill>
              <a:srgbClr val="2F7D5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486400" y="109220"/>
            <a:ext cx="3200400" cy="2565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ctr">
              <a:lnSpc>
                <a:spcPct val="120000"/>
              </a:lnSpc>
            </a:pPr>
            <a:r>
              <a:rPr lang="en-US" sz="1000" b="1" noProof="1">
                <a:solidFill>
                  <a:srgbClr val="FFFFFF"/>
                </a:solidFill>
                <a:latin typeface="Calibri"/>
                <a:ea typeface="Calibri"/>
              </a:rPr>
              <a:t>Completed (CIFAR-10) · Qualitative (MNIST)</a:t>
            </a:r>
            <a:endParaRPr lang="en-US" sz="1000" noProof="1"/>
          </a:p>
        </p:txBody>
      </p:sp>
      <p:pic>
        <p:nvPicPr>
          <p:cNvPr id="7" name="Image 0"/>
          <p:cNvPicPr/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3931920" cy="2514600"/>
          </a:xfrm>
          <a:prstGeom prst="rect">
            <a:avLst/>
          </a:prstGeom>
          <a:ln>
            <a:noFill/>
          </a:ln>
        </p:spPr>
      </p:pic>
      <p:sp>
        <p:nvSpPr>
          <p:cNvPr id="8" name="Text 5"/>
          <p:cNvSpPr txBox="1"/>
          <p:nvPr/>
        </p:nvSpPr>
        <p:spPr>
          <a:xfrm>
            <a:off x="457200" y="365760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l">
              <a:lnSpc>
                <a:spcPct val="120000"/>
              </a:lnSpc>
            </a:pPr>
            <a:r>
              <a:rPr lang="en-US" sz="1050" i="1" noProof="1">
                <a:solidFill>
                  <a:srgbClr val="5A6472"/>
                </a:solidFill>
                <a:latin typeface="Calibri"/>
                <a:ea typeface="Calibri"/>
              </a:rPr>
              <a:t>CIFAR-10: guided-diffusion poisons, all labelled cat, with the dog target image below</a:t>
            </a:r>
            <a:endParaRPr lang="en-US" sz="1050" noProof="1"/>
          </a:p>
        </p:txBody>
      </p:sp>
      <p:pic>
        <p:nvPicPr>
          <p:cNvPr id="9" name="Image 1"/>
          <p:cNvPicPr/>
          <p:nvPr/>
        </p:nvPicPr>
        <p:blipFill>
          <a:blip r:embed="rId4"/>
          <a:stretch>
            <a:fillRect/>
          </a:stretch>
        </p:blipFill>
        <p:spPr>
          <a:xfrm>
            <a:off x="4754880" y="1097280"/>
            <a:ext cx="3931920" cy="2514600"/>
          </a:xfrm>
          <a:prstGeom prst="rect">
            <a:avLst/>
          </a:prstGeom>
          <a:ln>
            <a:noFill/>
          </a:ln>
        </p:spPr>
      </p:pic>
      <p:sp>
        <p:nvSpPr>
          <p:cNvPr id="10" name="Text 6"/>
          <p:cNvSpPr txBox="1"/>
          <p:nvPr/>
        </p:nvSpPr>
        <p:spPr>
          <a:xfrm>
            <a:off x="4754880" y="365760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l">
              <a:lnSpc>
                <a:spcPct val="120000"/>
              </a:lnSpc>
            </a:pPr>
            <a:r>
              <a:rPr lang="en-US" sz="1050" i="1" noProof="1">
                <a:solidFill>
                  <a:srgbClr val="5A6472"/>
                </a:solidFill>
                <a:latin typeface="Calibri"/>
                <a:ea typeface="Calibri"/>
              </a:rPr>
              <a:t>MNIST proof of concept (g = 100, t_start = 250): the mechanism works on a different dataset and DDPM</a:t>
            </a:r>
            <a:endParaRPr lang="en-US" sz="1050" noProof="1"/>
          </a:p>
        </p:txBody>
      </p:sp>
      <p:sp>
        <p:nvSpPr>
          <p:cNvPr id="11" name="Text 7"/>
          <p:cNvSpPr txBox="1"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l">
              <a:lnSpc>
                <a:spcPct val="120000"/>
              </a:lnSpc>
            </a:pPr>
            <a:r>
              <a:rPr lang="en-US" sz="1150" noProof="1">
                <a:solidFill>
                  <a:srgbClr val="16324F"/>
                </a:solidFill>
                <a:latin typeface="Calibri"/>
                <a:ea typeface="Calibri"/>
              </a:rPr>
              <a:t>At this guidance strength the CIFAR-10 poisons are visibly textured. There is no quantitative stealth metric (SSIM/LPIPS) for Phase 2 yet, so stealth here is a visual claim only.</a:t>
            </a:r>
            <a:endParaRPr lang="en-US" sz="115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2600" b="1" noProof="1">
                <a:solidFill>
                  <a:srgbClr val="16324F"/>
                </a:solidFill>
                <a:latin typeface="Cambria"/>
                <a:ea typeface="Cambria"/>
              </a:rPr>
              <a:t>Where it transfers, and where it does not</a:t>
            </a:r>
            <a:endParaRPr lang="en-US" sz="2600" noProof="1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l">
              <a:lnSpc>
                <a:spcPct val="120000"/>
              </a:lnSpc>
            </a:pPr>
            <a:r>
              <a:rPr lang="en-US" sz="900" noProof="1">
                <a:solidFill>
                  <a:srgbClr val="5A6472"/>
                </a:solidFill>
                <a:latin typeface="Calibri"/>
                <a:ea typeface="Calibri"/>
              </a:rPr>
              <a:t>Rajat Dulal · Clean-label poisoning via guided diffusion</a:t>
            </a:r>
            <a:endParaRPr lang="en-US" sz="900" noProof="1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r">
              <a:lnSpc>
                <a:spcPct val="120000"/>
              </a:lnSpc>
            </a:pPr>
            <a:r>
              <a:rPr lang="en-US" sz="900" noProof="1">
                <a:solidFill>
                  <a:srgbClr val="5A6472"/>
                </a:solidFill>
                <a:latin typeface="Calibri"/>
                <a:ea typeface="Calibri"/>
              </a:rPr>
              <a:t>13 / 16</a:t>
            </a:r>
            <a:endParaRPr lang="en-US" sz="900" noProof="1"/>
          </a:p>
        </p:txBody>
      </p:sp>
      <p:sp>
        <p:nvSpPr>
          <p:cNvPr id="5" name="Shape 3"/>
          <p:cNvSpPr/>
          <p:nvPr/>
        </p:nvSpPr>
        <p:spPr>
          <a:xfrm>
            <a:off x="7680960" y="109220"/>
            <a:ext cx="1005840" cy="256540"/>
          </a:xfrm>
          <a:prstGeom prst="roundRect">
            <a:avLst>
              <a:gd name="adj" fmla="val 50000"/>
            </a:avLst>
          </a:prstGeom>
          <a:solidFill>
            <a:srgbClr val="9A7418"/>
          </a:solidFill>
          <a:ln w="12700">
            <a:solidFill>
              <a:srgbClr val="9A741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7680960" y="109220"/>
            <a:ext cx="1005840" cy="2565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ctr">
              <a:lnSpc>
                <a:spcPct val="120000"/>
              </a:lnSpc>
            </a:pPr>
            <a:r>
              <a:rPr lang="en-US" sz="1000" b="1" noProof="1">
                <a:solidFill>
                  <a:srgbClr val="FFFFFF"/>
                </a:solidFill>
                <a:latin typeface="Calibri"/>
                <a:ea typeface="Calibri"/>
              </a:rPr>
              <a:t>Preliminary</a:t>
            </a:r>
            <a:endParaRPr lang="en-US" sz="1000" noProof="1"/>
          </a:p>
        </p:txBody>
      </p:sp>
      <p:sp>
        <p:nvSpPr>
          <p:cNvPr id="7" name="Shape 5"/>
          <p:cNvSpPr/>
          <p:nvPr/>
        </p:nvSpPr>
        <p:spPr>
          <a:xfrm>
            <a:off x="4937760" y="1051560"/>
            <a:ext cx="3749040" cy="1600200"/>
          </a:xfrm>
          <a:prstGeom prst="roundRect">
            <a:avLst>
              <a:gd name="adj" fmla="val 4571"/>
            </a:avLst>
          </a:prstGeom>
          <a:solidFill>
            <a:srgbClr val="F0F4F8"/>
          </a:solidFill>
          <a:ln w="12700">
            <a:solidFill>
              <a:srgbClr val="F0F4F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5074920" y="1115060"/>
            <a:ext cx="347472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1250" b="1" noProof="1">
                <a:solidFill>
                  <a:srgbClr val="1F4E79"/>
                </a:solidFill>
                <a:latin typeface="Calibri"/>
                <a:ea typeface="Calibri"/>
              </a:rPr>
              <a:t>Cross-architecture: weaker but real</a:t>
            </a:r>
            <a:endParaRPr lang="en-US" sz="1250" noProof="1"/>
          </a:p>
          <a:p>
            <a:pPr marL="0" algn="l">
              <a:lnSpc>
                <a:spcPct val="120000"/>
              </a:lnSpc>
            </a:pPr>
            <a:r>
              <a:rPr lang="en-US" sz="1250" noProof="1">
                <a:solidFill>
                  <a:srgbClr val="16324F"/>
                </a:solidFill>
                <a:latin typeface="Calibri"/>
                <a:ea typeface="Calibri"/>
              </a:rPr>
              <a:t>+8.6 pp on a residual CNN (16.1% vs 7.5% baseline), and clean accuracy drops 80.51% → 75.27%. Guidance appears partly tied to the surrogate's feature geometry. One extra architecture only.</a:t>
            </a:r>
            <a:endParaRPr lang="en-US" sz="1250" noProof="1"/>
          </a:p>
        </p:txBody>
      </p:sp>
      <p:sp>
        <p:nvSpPr>
          <p:cNvPr id="9" name="Shape 7"/>
          <p:cNvSpPr/>
          <p:nvPr/>
        </p:nvSpPr>
        <p:spPr>
          <a:xfrm>
            <a:off x="4937760" y="2788920"/>
            <a:ext cx="3749040" cy="1600200"/>
          </a:xfrm>
          <a:prstGeom prst="roundRect">
            <a:avLst>
              <a:gd name="adj" fmla="val 4571"/>
            </a:avLst>
          </a:prstGeom>
          <a:solidFill>
            <a:srgbClr val="F9EDED"/>
          </a:solidFill>
          <a:ln w="12700">
            <a:solidFill>
              <a:srgbClr val="F9EDED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074920" y="2852420"/>
            <a:ext cx="3474720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1250" b="1" noProof="1">
                <a:solidFill>
                  <a:srgbClr val="B04A4A"/>
                </a:solidFill>
                <a:latin typeface="Calibri"/>
                <a:ea typeface="Calibri"/>
              </a:rPr>
              <a:t>Negative result: pretrained victim</a:t>
            </a:r>
            <a:endParaRPr lang="en-US" sz="1250" noProof="1"/>
          </a:p>
          <a:p>
            <a:pPr marL="0" algn="l">
              <a:lnSpc>
                <a:spcPct val="120000"/>
              </a:lnSpc>
            </a:pPr>
            <a:r>
              <a:rPr lang="en-US" sz="1250" noProof="1">
                <a:solidFill>
                  <a:srgbClr val="16324F"/>
                </a:solidFill>
                <a:latin typeface="Calibri"/>
                <a:ea typeface="Calibri"/>
              </a:rPr>
              <a:t>Against an ImageNet-pretrained ResNet fine-tuned on CIFAR-10, the poisons produced no measurable shift. Strong pretrained features appear to resist the short fine-tune. Reported as a boundary on the threat model.</a:t>
            </a:r>
            <a:endParaRPr lang="en-US" sz="1250" noProof="1"/>
          </a:p>
        </p:txBody>
      </p:sp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4486429D-4AD2-AF0E-979B-E72620EB5B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619602"/>
              </p:ext>
            </p:extLst>
          </p:nvPr>
        </p:nvGraphicFramePr>
        <p:xfrm>
          <a:off x="457200" y="1051560"/>
          <a:ext cx="420624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2600" b="1" noProof="1">
                <a:solidFill>
                  <a:srgbClr val="16324F"/>
                </a:solidFill>
                <a:latin typeface="Cambria"/>
                <a:ea typeface="Cambria"/>
              </a:rPr>
              <a:t>Evidence status: what is done, preliminary, and open</a:t>
            </a:r>
            <a:endParaRPr lang="en-US" sz="2600" noProof="1"/>
          </a:p>
        </p:txBody>
      </p:sp>
      <p:sp>
        <p:nvSpPr>
          <p:cNvPr id="3" name="Text 1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l">
              <a:lnSpc>
                <a:spcPct val="120000"/>
              </a:lnSpc>
            </a:pPr>
            <a:r>
              <a:rPr lang="en-US" sz="900" noProof="1">
                <a:solidFill>
                  <a:srgbClr val="5A6472"/>
                </a:solidFill>
                <a:latin typeface="Calibri"/>
                <a:ea typeface="Calibri"/>
              </a:rPr>
              <a:t>Rajat Dulal · Clean-label poisoning via guided diffusion</a:t>
            </a:r>
            <a:endParaRPr lang="en-US" sz="900" noProof="1"/>
          </a:p>
        </p:txBody>
      </p:sp>
      <p:sp>
        <p:nvSpPr>
          <p:cNvPr id="4" name="Text 2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r">
              <a:lnSpc>
                <a:spcPct val="120000"/>
              </a:lnSpc>
            </a:pPr>
            <a:r>
              <a:rPr lang="en-US" sz="900" noProof="1">
                <a:solidFill>
                  <a:srgbClr val="5A6472"/>
                </a:solidFill>
                <a:latin typeface="Calibri"/>
                <a:ea typeface="Calibri"/>
              </a:rPr>
              <a:t>14 / 16</a:t>
            </a:r>
            <a:endParaRPr lang="en-US" sz="900" noProof="1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0F4F8"/>
          </a:solidFill>
          <a:ln w="12700">
            <a:solidFill>
              <a:srgbClr val="F0F4F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188720"/>
            <a:ext cx="1371600" cy="256540"/>
          </a:xfrm>
          <a:prstGeom prst="roundRect">
            <a:avLst>
              <a:gd name="adj" fmla="val 50000"/>
            </a:avLst>
          </a:prstGeom>
          <a:solidFill>
            <a:srgbClr val="2F7D57"/>
          </a:solidFill>
          <a:ln w="12700">
            <a:solidFill>
              <a:srgbClr val="2F7D57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40080" y="1188720"/>
            <a:ext cx="1371600" cy="2565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ctr">
              <a:lnSpc>
                <a:spcPct val="120000"/>
              </a:lnSpc>
            </a:pPr>
            <a:r>
              <a:rPr lang="en-US" sz="1000" b="1" noProof="1">
                <a:solidFill>
                  <a:srgbClr val="FFFFFF"/>
                </a:solidFill>
                <a:latin typeface="Calibri"/>
                <a:ea typeface="Calibri"/>
              </a:rPr>
              <a:t>Completed</a:t>
            </a:r>
            <a:endParaRPr lang="en-US" sz="1000" noProof="1"/>
          </a:p>
        </p:txBody>
      </p:sp>
      <p:sp>
        <p:nvSpPr>
          <p:cNvPr id="8" name="Text 6"/>
          <p:cNvSpPr txBox="1"/>
          <p:nvPr/>
        </p:nvSpPr>
        <p:spPr>
          <a:xfrm>
            <a:off x="640080" y="1600200"/>
            <a:ext cx="2331720" cy="2651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342900" algn="l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300" noProof="1">
                <a:solidFill>
                  <a:srgbClr val="16324F"/>
                </a:solidFill>
                <a:latin typeface="Calibri"/>
                <a:ea typeface="Calibri"/>
              </a:rPr>
              <a:t>Phase 1 PGD baseline on CIFAR-10 / ResNet-18</a:t>
            </a:r>
            <a:endParaRPr lang="en-US" sz="1300" noProof="1"/>
          </a:p>
          <a:p>
            <a:pPr marL="342900" algn="l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300" noProof="1">
                <a:solidFill>
                  <a:srgbClr val="16324F"/>
                </a:solidFill>
                <a:latin typeface="Calibri"/>
                <a:ea typeface="Calibri"/>
              </a:rPr>
              <a:t>Phase 2 main result: dog→cat, 25 poisons</a:t>
            </a:r>
            <a:endParaRPr lang="en-US" sz="1300" noProof="1"/>
          </a:p>
          <a:p>
            <a:pPr marL="342900" algn="l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300" noProof="1">
                <a:solidFill>
                  <a:srgbClr val="16324F"/>
                </a:solidFill>
                <a:latin typeface="Calibri"/>
                <a:ea typeface="Calibri"/>
              </a:rPr>
              <a:t>t_start sweep at 50, 100, 300</a:t>
            </a:r>
            <a:endParaRPr lang="en-US" sz="1300" noProof="1"/>
          </a:p>
          <a:p>
            <a:pPr marL="342900" algn="l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300" noProof="1">
                <a:solidFill>
                  <a:srgbClr val="16324F"/>
                </a:solidFill>
                <a:latin typeface="Calibri"/>
                <a:ea typeface="Calibri"/>
              </a:rPr>
              <a:t>Full guided-diffusion pipeline and DiffPure-style module implemented</a:t>
            </a:r>
            <a:endParaRPr lang="en-US" sz="1300" noProof="1"/>
          </a:p>
        </p:txBody>
      </p:sp>
      <p:sp>
        <p:nvSpPr>
          <p:cNvPr id="9" name="Shape 7"/>
          <p:cNvSpPr/>
          <p:nvPr/>
        </p:nvSpPr>
        <p:spPr>
          <a:xfrm>
            <a:off x="3246120" y="105156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0F4F8"/>
          </a:solidFill>
          <a:ln w="12700">
            <a:solidFill>
              <a:srgbClr val="F0F4F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429000" y="1188720"/>
            <a:ext cx="1371600" cy="256540"/>
          </a:xfrm>
          <a:prstGeom prst="roundRect">
            <a:avLst>
              <a:gd name="adj" fmla="val 50000"/>
            </a:avLst>
          </a:prstGeom>
          <a:solidFill>
            <a:srgbClr val="9A7418"/>
          </a:solidFill>
          <a:ln w="12700">
            <a:solidFill>
              <a:srgbClr val="9A741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3429000" y="1188720"/>
            <a:ext cx="1371600" cy="2565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ctr">
              <a:lnSpc>
                <a:spcPct val="120000"/>
              </a:lnSpc>
            </a:pPr>
            <a:r>
              <a:rPr lang="en-US" sz="1000" b="1" noProof="1">
                <a:solidFill>
                  <a:srgbClr val="FFFFFF"/>
                </a:solidFill>
                <a:latin typeface="Calibri"/>
                <a:ea typeface="Calibri"/>
              </a:rPr>
              <a:t>Partially Completed</a:t>
            </a:r>
            <a:endParaRPr lang="en-US" sz="1000" noProof="1"/>
          </a:p>
        </p:txBody>
      </p:sp>
      <p:sp>
        <p:nvSpPr>
          <p:cNvPr id="12" name="Text 10"/>
          <p:cNvSpPr txBox="1"/>
          <p:nvPr/>
        </p:nvSpPr>
        <p:spPr>
          <a:xfrm>
            <a:off x="3429000" y="1600200"/>
            <a:ext cx="2331720" cy="2651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342900" algn="l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300" noProof="1">
                <a:solidFill>
                  <a:srgbClr val="16324F"/>
                </a:solidFill>
                <a:latin typeface="Calibri"/>
                <a:ea typeface="Calibri"/>
              </a:rPr>
              <a:t>Cross-architecture transfer (one extra architecture)</a:t>
            </a:r>
            <a:endParaRPr lang="en-US" sz="1300" noProof="1"/>
          </a:p>
          <a:p>
            <a:pPr marL="342900" algn="l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300" noProof="1">
                <a:solidFill>
                  <a:srgbClr val="16324F"/>
                </a:solidFill>
                <a:latin typeface="Calibri"/>
                <a:ea typeface="Calibri"/>
              </a:rPr>
              <a:t>MNIST proof of concept (qualitative only)</a:t>
            </a:r>
            <a:endParaRPr lang="en-US" sz="1300" noProof="1"/>
          </a:p>
          <a:p>
            <a:pPr marL="342900" algn="l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300" noProof="1">
                <a:solidFill>
                  <a:srgbClr val="16324F"/>
                </a:solidFill>
                <a:latin typeface="Calibri"/>
                <a:ea typeface="Calibri"/>
              </a:rPr>
              <a:t>Pretrained-victim negative result (no shift observed)</a:t>
            </a:r>
            <a:endParaRPr lang="en-US" sz="1300" noProof="1"/>
          </a:p>
          <a:p>
            <a:pPr marL="342900" algn="l">
              <a:lnSpc>
                <a:spcPct val="120000"/>
              </a:lnSpc>
              <a:spcBef>
                <a:spcPts val="10"/>
              </a:spcBef>
            </a:pPr>
            <a:endParaRPr lang="en-US" sz="1300" noProof="1"/>
          </a:p>
        </p:txBody>
      </p:sp>
      <p:sp>
        <p:nvSpPr>
          <p:cNvPr id="13" name="Shape 11"/>
          <p:cNvSpPr/>
          <p:nvPr/>
        </p:nvSpPr>
        <p:spPr>
          <a:xfrm>
            <a:off x="6035040" y="1051560"/>
            <a:ext cx="2651760" cy="3291840"/>
          </a:xfrm>
          <a:prstGeom prst="roundRect">
            <a:avLst>
              <a:gd name="adj" fmla="val 2759"/>
            </a:avLst>
          </a:prstGeom>
          <a:solidFill>
            <a:srgbClr val="F0F4F8"/>
          </a:solidFill>
          <a:ln w="12700">
            <a:solidFill>
              <a:srgbClr val="F0F4F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1371600" cy="256540"/>
          </a:xfrm>
          <a:prstGeom prst="roundRect">
            <a:avLst>
              <a:gd name="adj" fmla="val 50000"/>
            </a:avLst>
          </a:prstGeom>
          <a:solidFill>
            <a:srgbClr val="B04A4A"/>
          </a:solidFill>
          <a:ln w="12700">
            <a:solidFill>
              <a:srgbClr val="B04A4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6217920" y="1188720"/>
            <a:ext cx="1371600" cy="2565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ctr">
              <a:lnSpc>
                <a:spcPct val="120000"/>
              </a:lnSpc>
            </a:pPr>
            <a:r>
              <a:rPr lang="en-US" sz="1000" b="1" noProof="1">
                <a:solidFill>
                  <a:srgbClr val="FFFFFF"/>
                </a:solidFill>
                <a:latin typeface="Calibri"/>
                <a:ea typeface="Calibri"/>
              </a:rPr>
              <a:t>Further Work</a:t>
            </a:r>
            <a:endParaRPr lang="en-US" sz="1000" noProof="1"/>
          </a:p>
        </p:txBody>
      </p:sp>
      <p:sp>
        <p:nvSpPr>
          <p:cNvPr id="16" name="Text 14"/>
          <p:cNvSpPr txBox="1"/>
          <p:nvPr/>
        </p:nvSpPr>
        <p:spPr>
          <a:xfrm>
            <a:off x="6217920" y="1600200"/>
            <a:ext cx="2331720" cy="2651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342900" algn="l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300" noProof="1">
                <a:solidFill>
                  <a:srgbClr val="16324F"/>
                </a:solidFill>
                <a:latin typeface="Calibri"/>
                <a:ea typeface="Calibri"/>
              </a:rPr>
              <a:t>DiffPure purification</a:t>
            </a:r>
            <a:endParaRPr lang="en-US" sz="1300" noProof="1"/>
          </a:p>
          <a:p>
            <a:pPr marL="342900" algn="l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300" noProof="1">
                <a:solidFill>
                  <a:srgbClr val="16324F"/>
                </a:solidFill>
                <a:latin typeface="Calibri"/>
                <a:ea typeface="Calibri"/>
              </a:rPr>
              <a:t>Advance defence mechanisms like Neural Cleanse, STRIP, ANP</a:t>
            </a:r>
            <a:endParaRPr lang="en-US" sz="1300" noProof="1"/>
          </a:p>
          <a:p>
            <a:pPr marL="342900" algn="l">
              <a:lnSpc>
                <a:spcPct val="120000"/>
              </a:lnSpc>
              <a:spcBef>
                <a:spcPts val="10"/>
              </a:spcBef>
              <a:buChar char="•"/>
            </a:pPr>
            <a:r>
              <a:rPr lang="en-US" sz="1300" noProof="1">
                <a:solidFill>
                  <a:srgbClr val="16324F"/>
                </a:solidFill>
                <a:latin typeface="Calibri"/>
                <a:ea typeface="Calibri"/>
              </a:rPr>
              <a:t>More class pairs, more seeds, quantitative stealth metrics</a:t>
            </a:r>
            <a:endParaRPr lang="en-US" sz="1300" noProof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2600" b="1" noProof="1">
                <a:solidFill>
                  <a:srgbClr val="16324F"/>
                </a:solidFill>
                <a:latin typeface="Cambria"/>
                <a:ea typeface="Cambria"/>
              </a:rPr>
              <a:t>Conclusion: contribution and evidence</a:t>
            </a:r>
            <a:endParaRPr lang="en-US" sz="2600" noProof="1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685800" y="960120"/>
            <a:ext cx="777240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l">
              <a:lnSpc>
                <a:spcPct val="120000"/>
              </a:lnSpc>
            </a:pPr>
            <a:r>
              <a:rPr lang="en-US" sz="1500" noProof="1">
                <a:solidFill>
                  <a:srgbClr val="FFFFFF"/>
                </a:solidFill>
                <a:latin typeface="Calibri"/>
                <a:ea typeface="Calibri"/>
              </a:rPr>
              <a:t>Embed the feature-collision objective inside the reverse diffusion trajectory of a frozen, pretrained DDPM, so the poison is generated in a single stage rather than generated first and optimised afterwards.</a:t>
            </a:r>
            <a:endParaRPr lang="en-US" sz="1500" noProof="1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0F4F8"/>
          </a:solidFill>
          <a:ln w="12700">
            <a:solidFill>
              <a:srgbClr val="D3DC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594360" y="224028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l">
              <a:lnSpc>
                <a:spcPct val="120000"/>
              </a:lnSpc>
            </a:pPr>
            <a:r>
              <a:rPr lang="en-US" sz="2200" b="1" noProof="1">
                <a:solidFill>
                  <a:srgbClr val="1F4E79"/>
                </a:solidFill>
                <a:latin typeface="Cambria"/>
                <a:ea typeface="Cambria"/>
              </a:rPr>
              <a:t>0.70% → 30.80%</a:t>
            </a:r>
            <a:endParaRPr lang="en-US" sz="2200" noProof="1"/>
          </a:p>
        </p:txBody>
      </p:sp>
      <p:sp>
        <p:nvSpPr>
          <p:cNvPr id="7" name="Text 5"/>
          <p:cNvSpPr txBox="1"/>
          <p:nvPr/>
        </p:nvSpPr>
        <p:spPr>
          <a:xfrm>
            <a:off x="594360" y="2834640"/>
            <a:ext cx="237744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1200" noProof="1">
                <a:solidFill>
                  <a:srgbClr val="16324F"/>
                </a:solidFill>
                <a:latin typeface="Calibri"/>
                <a:ea typeface="Calibri"/>
              </a:rPr>
              <a:t>dog→cat target-class ASR with only 25 poison images (same-architecture victim, t_start = 100)</a:t>
            </a:r>
            <a:endParaRPr lang="en-US" sz="1200" noProof="1"/>
          </a:p>
        </p:txBody>
      </p:sp>
      <p:sp>
        <p:nvSpPr>
          <p:cNvPr id="8" name="Shape 6"/>
          <p:cNvSpPr/>
          <p:nvPr/>
        </p:nvSpPr>
        <p:spPr>
          <a:xfrm>
            <a:off x="3246120" y="214884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0F4F8"/>
          </a:solidFill>
          <a:ln w="12700">
            <a:solidFill>
              <a:srgbClr val="D3DC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383280" y="224028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l">
              <a:lnSpc>
                <a:spcPct val="120000"/>
              </a:lnSpc>
            </a:pPr>
            <a:r>
              <a:rPr lang="en-US" sz="2200" b="1" noProof="1">
                <a:solidFill>
                  <a:srgbClr val="1F4E79"/>
                </a:solidFill>
                <a:latin typeface="Cambria"/>
                <a:ea typeface="Cambria"/>
              </a:rPr>
              <a:t>up to 45.00%</a:t>
            </a:r>
            <a:endParaRPr lang="en-US" sz="2200" noProof="1"/>
          </a:p>
        </p:txBody>
      </p:sp>
      <p:sp>
        <p:nvSpPr>
          <p:cNvPr id="10" name="Text 8"/>
          <p:cNvSpPr txBox="1"/>
          <p:nvPr/>
        </p:nvSpPr>
        <p:spPr>
          <a:xfrm>
            <a:off x="3383280" y="2834640"/>
            <a:ext cx="237744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1200" noProof="1">
                <a:solidFill>
                  <a:srgbClr val="16324F"/>
                </a:solidFill>
                <a:latin typeface="Calibri"/>
                <a:ea typeface="Calibri"/>
              </a:rPr>
              <a:t>ASR at deeper partial diffusion (t_start = 300), at some cost to clean accuracy</a:t>
            </a:r>
            <a:endParaRPr lang="en-US" sz="1200" noProof="1"/>
          </a:p>
        </p:txBody>
      </p:sp>
      <p:sp>
        <p:nvSpPr>
          <p:cNvPr id="11" name="Shape 9"/>
          <p:cNvSpPr/>
          <p:nvPr/>
        </p:nvSpPr>
        <p:spPr>
          <a:xfrm>
            <a:off x="6035040" y="214884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F0F4F8"/>
          </a:solidFill>
          <a:ln w="12700">
            <a:solidFill>
              <a:srgbClr val="D3DCE6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172200" y="224028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l">
              <a:lnSpc>
                <a:spcPct val="120000"/>
              </a:lnSpc>
            </a:pPr>
            <a:r>
              <a:rPr lang="en-US" sz="2200" b="1" noProof="1">
                <a:solidFill>
                  <a:srgbClr val="5A6472"/>
                </a:solidFill>
                <a:latin typeface="Cambria"/>
                <a:ea typeface="Cambria"/>
              </a:rPr>
              <a:t>14.50%</a:t>
            </a:r>
            <a:endParaRPr lang="en-US" sz="2200" noProof="1"/>
          </a:p>
        </p:txBody>
      </p:sp>
      <p:sp>
        <p:nvSpPr>
          <p:cNvPr id="13" name="Text 11"/>
          <p:cNvSpPr txBox="1"/>
          <p:nvPr/>
        </p:nvSpPr>
        <p:spPr>
          <a:xfrm>
            <a:off x="6172200" y="2834640"/>
            <a:ext cx="2377440" cy="960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1200" noProof="1">
                <a:solidFill>
                  <a:srgbClr val="16324F"/>
                </a:solidFill>
                <a:latin typeface="Calibri"/>
                <a:ea typeface="Calibri"/>
              </a:rPr>
              <a:t>ASR of the PGD feature-interpolation baseline (Phase 1, 250 poisons, different class pair and victim)</a:t>
            </a:r>
            <a:endParaRPr lang="en-US" sz="1200" noProof="1"/>
          </a:p>
        </p:txBody>
      </p:sp>
      <p:sp>
        <p:nvSpPr>
          <p:cNvPr id="14" name="Text 12"/>
          <p:cNvSpPr txBox="1"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marL="0" algn="l">
              <a:lnSpc>
                <a:spcPct val="120000"/>
              </a:lnSpc>
            </a:pPr>
            <a:r>
              <a:rPr lang="en-US" sz="1100" i="1" noProof="1">
                <a:solidFill>
                  <a:srgbClr val="5A6472"/>
                </a:solidFill>
                <a:latin typeface="Calibri"/>
                <a:ea typeface="Calibri"/>
              </a:rPr>
              <a:t>Scope: single-run estimates on CIFAR-10. Transfer is partial and fails against a strongly pretrained victim. Purification robustness and standard-defence tests are still open (slide 14), and the diffusion-vs-PGD comparison is directional, not controlled.</a:t>
            </a:r>
            <a:endParaRPr lang="en-US" sz="1100" noProof="1"/>
          </a:p>
        </p:txBody>
      </p:sp>
      <p:sp>
        <p:nvSpPr>
          <p:cNvPr id="16" name="Text 14"/>
          <p:cNvSpPr txBox="1"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r">
              <a:lnSpc>
                <a:spcPct val="120000"/>
              </a:lnSpc>
            </a:pPr>
            <a:r>
              <a:rPr lang="en-US" sz="900" noProof="1">
                <a:solidFill>
                  <a:srgbClr val="5A6472"/>
                </a:solidFill>
                <a:latin typeface="Calibri"/>
                <a:ea typeface="Calibri"/>
              </a:rPr>
              <a:t>16 / 16</a:t>
            </a:r>
            <a:endParaRPr lang="en-US" sz="900" noProof="1"/>
          </a:p>
        </p:txBody>
      </p:sp>
      <p:sp>
        <p:nvSpPr>
          <p:cNvPr id="20" name="Text 1">
            <a:extLst>
              <a:ext uri="{FF2B5EF4-FFF2-40B4-BE49-F238E27FC236}">
                <a16:creationId xmlns:a16="http://schemas.microsoft.com/office/drawing/2014/main" id="{A20E082A-7612-C785-059D-B9285D0FCCC3}"/>
              </a:ext>
            </a:extLst>
          </p:cNvPr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marL="0" algn="l">
              <a:lnSpc>
                <a:spcPct val="120000"/>
              </a:lnSpc>
            </a:pPr>
            <a:r>
              <a:rPr lang="en-US" sz="900" noProof="1">
                <a:solidFill>
                  <a:srgbClr val="5A6472"/>
                </a:solidFill>
                <a:latin typeface="Calibri"/>
                <a:ea typeface="Calibri"/>
              </a:rPr>
              <a:t>Rajat Dulal · Clean-label poisoning via guided diffusion</a:t>
            </a:r>
            <a:endParaRPr lang="en-US" sz="900" noProof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0">
            <a:extLst>
              <a:ext uri="{FF2B5EF4-FFF2-40B4-BE49-F238E27FC236}">
                <a16:creationId xmlns:a16="http://schemas.microsoft.com/office/drawing/2014/main" id="{00D6F8A4-79AF-4E05-ADE8-CF31CD55B8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21" name="Image 1">
            <a:extLst>
              <a:ext uri="{FF2B5EF4-FFF2-40B4-BE49-F238E27FC236}">
                <a16:creationId xmlns:a16="http://schemas.microsoft.com/office/drawing/2014/main" id="{DD782AF9-2432-094E-E049-2F1219AA4A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23" name="Text 0">
            <a:extLst>
              <a:ext uri="{FF2B5EF4-FFF2-40B4-BE49-F238E27FC236}">
                <a16:creationId xmlns:a16="http://schemas.microsoft.com/office/drawing/2014/main" id="{8B77977F-6E4E-EA67-0E4B-1B973C23A53C}"/>
              </a:ext>
            </a:extLst>
          </p:cNvPr>
          <p:cNvSpPr/>
          <p:nvPr/>
        </p:nvSpPr>
        <p:spPr>
          <a:xfrm>
            <a:off x="496119" y="1991469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Thank You</a:t>
            </a:r>
            <a:endParaRPr lang="en-US" sz="2750" dirty="0"/>
          </a:p>
        </p:txBody>
      </p:sp>
      <p:sp>
        <p:nvSpPr>
          <p:cNvPr id="25" name="Text 1">
            <a:extLst>
              <a:ext uri="{FF2B5EF4-FFF2-40B4-BE49-F238E27FC236}">
                <a16:creationId xmlns:a16="http://schemas.microsoft.com/office/drawing/2014/main" id="{EAF8489F-7BAF-7629-2972-FF2452C9B0AC}"/>
              </a:ext>
            </a:extLst>
          </p:cNvPr>
          <p:cNvSpPr/>
          <p:nvPr/>
        </p:nvSpPr>
        <p:spPr>
          <a:xfrm>
            <a:off x="496119" y="2491160"/>
            <a:ext cx="4722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C2926"/>
                </a:solidFill>
                <a:latin typeface="Bricolage Grotesque SemiBold" pitchFamily="34" charset="0"/>
                <a:ea typeface="Bricolage Grotesque SemiBold" pitchFamily="34" charset="-122"/>
                <a:cs typeface="Bricolage Grotesque SemiBold" pitchFamily="34" charset="-120"/>
              </a:rPr>
              <a:t>Questions &amp; Discussion</a:t>
            </a:r>
            <a:endParaRPr lang="en-US" sz="1350" dirty="0"/>
          </a:p>
        </p:txBody>
      </p:sp>
      <p:sp>
        <p:nvSpPr>
          <p:cNvPr id="27" name="Text 2">
            <a:extLst>
              <a:ext uri="{FF2B5EF4-FFF2-40B4-BE49-F238E27FC236}">
                <a16:creationId xmlns:a16="http://schemas.microsoft.com/office/drawing/2014/main" id="{C589C3A4-A8EA-8760-C256-66F095D05F93}"/>
              </a:ext>
            </a:extLst>
          </p:cNvPr>
          <p:cNvSpPr/>
          <p:nvPr/>
        </p:nvSpPr>
        <p:spPr>
          <a:xfrm>
            <a:off x="496119" y="2925217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1100" noProof="1">
                <a:solidFill>
                  <a:srgbClr val="16324F"/>
                </a:solidFill>
                <a:latin typeface="Calibri"/>
                <a:ea typeface="Calibri"/>
              </a:rPr>
              <a:t>Rajat Dulal | Deakin University | SIT746 Research Project (Advanced)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144033208"/>
      </p:ext>
    </p:extLst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2447</Words>
  <Application>Microsoft Office PowerPoint</Application>
  <PresentationFormat>On-screen Show (16:9)</PresentationFormat>
  <Paragraphs>256</Paragraphs>
  <Slides>17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Cambria</vt:lpstr>
      <vt:lpstr>Aptos</vt:lpstr>
      <vt:lpstr>Bricolage Grotesque SemiBold</vt:lpstr>
      <vt:lpstr>Calibri</vt:lpstr>
      <vt:lpstr>PPTD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Diffusion-Guided Clean-Label Poisoning of CNN Classifiers</dc:title>
  <dc:creator>Rajat Dulal</dc:creator>
  <cp:lastModifiedBy>Rajat Dulal</cp:lastModifiedBy>
  <cp:revision>2</cp:revision>
  <dcterms:modified xsi:type="dcterms:W3CDTF">2026-10-04T11:17:38Z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</Properties>
</file>